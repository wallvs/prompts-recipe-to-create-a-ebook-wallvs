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handoutMasterIdLst>
    <p:handoutMasterId r:id="rId25"/>
  </p:handoutMasterIdLst>
  <p:sldIdLst>
    <p:sldId id="257" r:id="rId2"/>
    <p:sldId id="263" r:id="rId3"/>
    <p:sldId id="264" r:id="rId4"/>
    <p:sldId id="265" r:id="rId5"/>
    <p:sldId id="266" r:id="rId6"/>
    <p:sldId id="261" r:id="rId7"/>
    <p:sldId id="267" r:id="rId8"/>
    <p:sldId id="268" r:id="rId9"/>
    <p:sldId id="262" r:id="rId10"/>
    <p:sldId id="269" r:id="rId11"/>
    <p:sldId id="270" r:id="rId12"/>
    <p:sldId id="271" r:id="rId13"/>
    <p:sldId id="273" r:id="rId14"/>
    <p:sldId id="274" r:id="rId15"/>
    <p:sldId id="272" r:id="rId16"/>
    <p:sldId id="275" r:id="rId17"/>
    <p:sldId id="276" r:id="rId18"/>
    <p:sldId id="277" r:id="rId19"/>
    <p:sldId id="279" r:id="rId20"/>
    <p:sldId id="280" r:id="rId21"/>
    <p:sldId id="284" r:id="rId22"/>
    <p:sldId id="283" r:id="rId23"/>
  </p:sldIdLst>
  <p:sldSz cx="9601200" cy="12801600" type="A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32" userDrawn="1">
          <p15:clr>
            <a:srgbClr val="A4A3A4"/>
          </p15:clr>
        </p15:guide>
        <p15:guide id="2" pos="30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FFFE"/>
    <a:srgbClr val="36ABFF"/>
    <a:srgbClr val="0D0A27"/>
    <a:srgbClr val="37ABFF"/>
    <a:srgbClr val="F1FEFE"/>
    <a:srgbClr val="85A0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45" autoAdjust="0"/>
    <p:restoredTop sz="94660"/>
  </p:normalViewPr>
  <p:slideViewPr>
    <p:cSldViewPr snapToGrid="0" showGuides="1">
      <p:cViewPr varScale="1">
        <p:scale>
          <a:sx n="58" d="100"/>
          <a:sy n="58" d="100"/>
        </p:scale>
        <p:origin x="3258" y="78"/>
      </p:cViewPr>
      <p:guideLst>
        <p:guide orient="horz" pos="4032"/>
        <p:guide pos="30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98B089FE-5646-9CF7-A0CD-D9371092F7B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8ADF765-FF2C-6672-30DF-4E02B0FCB8E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E237D1-EB3E-42ED-8017-A3E0F540A544}" type="datetimeFigureOut">
              <a:rPr lang="pt-BR" smtClean="0"/>
              <a:t>07/11/2025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3EF68CF-250A-55FC-E1E4-D9C6F5A5555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12F9274-313E-B987-AB97-907ACC11A21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893A92-22D6-4927-AF67-7D3B866A4A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93338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8E0544-B9E7-47A8-ABD7-B3CFDECA6595}" type="datetimeFigureOut">
              <a:rPr lang="pt-BR" smtClean="0"/>
              <a:t>07/11/2025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0A01F6-44E6-448B-9319-3BC869F75E0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2810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090" y="2095078"/>
            <a:ext cx="8161020" cy="4456853"/>
          </a:xfrm>
        </p:spPr>
        <p:txBody>
          <a:bodyPr anchor="b"/>
          <a:lstStyle>
            <a:lvl1pPr algn="ctr">
              <a:defRPr sz="63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150" y="6723804"/>
            <a:ext cx="7200900" cy="3090756"/>
          </a:xfrm>
        </p:spPr>
        <p:txBody>
          <a:bodyPr/>
          <a:lstStyle>
            <a:lvl1pPr marL="0" indent="0" algn="ctr">
              <a:buNone/>
              <a:defRPr sz="2520"/>
            </a:lvl1pPr>
            <a:lvl2pPr marL="480060" indent="0" algn="ctr">
              <a:buNone/>
              <a:defRPr sz="2100"/>
            </a:lvl2pPr>
            <a:lvl3pPr marL="960120" indent="0" algn="ctr">
              <a:buNone/>
              <a:defRPr sz="1890"/>
            </a:lvl3pPr>
            <a:lvl4pPr marL="1440180" indent="0" algn="ctr">
              <a:buNone/>
              <a:defRPr sz="1680"/>
            </a:lvl4pPr>
            <a:lvl5pPr marL="1920240" indent="0" algn="ctr">
              <a:buNone/>
              <a:defRPr sz="1680"/>
            </a:lvl5pPr>
            <a:lvl6pPr marL="2400300" indent="0" algn="ctr">
              <a:buNone/>
              <a:defRPr sz="1680"/>
            </a:lvl6pPr>
            <a:lvl7pPr marL="2880360" indent="0" algn="ctr">
              <a:buNone/>
              <a:defRPr sz="1680"/>
            </a:lvl7pPr>
            <a:lvl8pPr marL="3360420" indent="0" algn="ctr">
              <a:buNone/>
              <a:defRPr sz="1680"/>
            </a:lvl8pPr>
            <a:lvl9pPr marL="3840480" indent="0" algn="ctr">
              <a:buNone/>
              <a:defRPr sz="168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ABF8A-9351-4217-8755-27D41278465F}" type="datetime1">
              <a:rPr lang="pt-BR" smtClean="0"/>
              <a:t>07/11/2025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AVAC PARA JEDIS - WALLVS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5406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E54F0-FB9A-41B7-81F2-9D9B2431D5BF}" type="datetime1">
              <a:rPr lang="pt-BR" smtClean="0"/>
              <a:t>07/11/2025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AVAC PARA JEDIS - WALLVS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8109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082" y="3191514"/>
            <a:ext cx="8281035" cy="5325109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5082" y="8567000"/>
            <a:ext cx="8281035" cy="2800349"/>
          </a:xfrm>
        </p:spPr>
        <p:txBody>
          <a:bodyPr/>
          <a:lstStyle>
            <a:lvl1pPr marL="0" indent="0">
              <a:buNone/>
              <a:defRPr sz="2520">
                <a:solidFill>
                  <a:schemeClr val="tx1"/>
                </a:solidFill>
              </a:defRPr>
            </a:lvl1pPr>
            <a:lvl2pPr marL="48006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960120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3pPr>
            <a:lvl4pPr marL="14401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19202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4003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28803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3604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C9A20-4685-409B-93E6-F3C7DD4E044A}" type="datetime1">
              <a:rPr lang="pt-BR" smtClean="0"/>
              <a:t>07/11/2025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AVAC PARA JEDIS - WALLVS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498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083" y="3407833"/>
            <a:ext cx="4080510" cy="81224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0608" y="3407833"/>
            <a:ext cx="4080510" cy="81224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AD4BD-420A-49E4-8982-1BAA914FEEE1}" type="datetime1">
              <a:rPr lang="pt-BR" smtClean="0"/>
              <a:t>07/11/2025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AVAC PARA JEDIS - WALLVS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0938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681570"/>
            <a:ext cx="8281035" cy="2474384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1334" y="3138171"/>
            <a:ext cx="4061757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1334" y="4676140"/>
            <a:ext cx="4061757" cy="68778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0608" y="3138171"/>
            <a:ext cx="4081761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60608" y="4676140"/>
            <a:ext cx="4081761" cy="68778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4AEDF-9B32-48B4-A1CB-B6036D60026A}" type="datetime1">
              <a:rPr lang="pt-BR" smtClean="0"/>
              <a:t>07/11/2025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AVAC PARA JEDIS - WALLVS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5751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01E41-7FE0-434A-9B63-906163FA642A}" type="datetime1">
              <a:rPr lang="pt-BR" smtClean="0"/>
              <a:t>07/11/2025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AVAC PARA JEDIS - WALLVS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5468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382D2-74F2-464B-AA69-31FE8638D196}" type="datetime1">
              <a:rPr lang="pt-BR" smtClean="0"/>
              <a:t>07/11/2025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AVAC PARA JEDIS - WALLVS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8948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1760" y="1843196"/>
            <a:ext cx="4860608" cy="9097433"/>
          </a:xfrm>
        </p:spPr>
        <p:txBody>
          <a:bodyPr/>
          <a:lstStyle>
            <a:lvl1pPr>
              <a:defRPr sz="3360"/>
            </a:lvl1pPr>
            <a:lvl2pPr>
              <a:defRPr sz="2940"/>
            </a:lvl2pPr>
            <a:lvl3pPr>
              <a:defRPr sz="252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48DA4-1B98-4540-A1E5-43C53D878FA4}" type="datetime1">
              <a:rPr lang="pt-BR" smtClean="0"/>
              <a:t>07/11/2025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AVAC PARA JEDIS - WALLVS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0915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81760" y="1843196"/>
            <a:ext cx="4860608" cy="9097433"/>
          </a:xfrm>
        </p:spPr>
        <p:txBody>
          <a:bodyPr anchor="t"/>
          <a:lstStyle>
            <a:lvl1pPr marL="0" indent="0">
              <a:buNone/>
              <a:defRPr sz="3360"/>
            </a:lvl1pPr>
            <a:lvl2pPr marL="480060" indent="0">
              <a:buNone/>
              <a:defRPr sz="2940"/>
            </a:lvl2pPr>
            <a:lvl3pPr marL="960120" indent="0">
              <a:buNone/>
              <a:defRPr sz="2520"/>
            </a:lvl3pPr>
            <a:lvl4pPr marL="1440180" indent="0">
              <a:buNone/>
              <a:defRPr sz="2100"/>
            </a:lvl4pPr>
            <a:lvl5pPr marL="1920240" indent="0">
              <a:buNone/>
              <a:defRPr sz="2100"/>
            </a:lvl5pPr>
            <a:lvl6pPr marL="2400300" indent="0">
              <a:buNone/>
              <a:defRPr sz="2100"/>
            </a:lvl6pPr>
            <a:lvl7pPr marL="2880360" indent="0">
              <a:buNone/>
              <a:defRPr sz="2100"/>
            </a:lvl7pPr>
            <a:lvl8pPr marL="3360420" indent="0">
              <a:buNone/>
              <a:defRPr sz="2100"/>
            </a:lvl8pPr>
            <a:lvl9pPr marL="3840480" indent="0">
              <a:buNone/>
              <a:defRPr sz="21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F50D2-E150-4B08-AFDC-6977172FFBC7}" type="datetime1">
              <a:rPr lang="pt-BR" smtClean="0"/>
              <a:t>07/11/2025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AVAC PARA JEDIS - WALLVS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6099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7B394-099A-4D89-B41D-D7391FA03587}" type="datetime1">
              <a:rPr lang="pt-BR" smtClean="0"/>
              <a:t>07/11/2025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AVAC PARA JEDIS - WALLVS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5203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859" y="681567"/>
            <a:ext cx="2070259" cy="1084876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0083" y="681567"/>
            <a:ext cx="6090761" cy="1084876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55473-3F4E-4B2E-9F9A-003C7E539F7F}" type="datetime1">
              <a:rPr lang="pt-BR" smtClean="0"/>
              <a:t>07/11/2025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AVAC PARA JEDIS - WALLVS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3176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083" y="681570"/>
            <a:ext cx="8281035" cy="2474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083" y="3407833"/>
            <a:ext cx="8281035" cy="8122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0083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77F020-30D4-42F3-ACB1-4C9D3B5F366A}" type="datetime1">
              <a:rPr lang="pt-BR" smtClean="0"/>
              <a:t>07/11/2025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80398" y="11865189"/>
            <a:ext cx="3240405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/>
              <a:t>AVAC PARA JEDIS - WALLVS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80848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B46D60-96CE-4402-8D7C-2F4B1C3826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3920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l" defTabSz="960120" rtl="0" eaLnBrk="1" latinLnBrk="0" hangingPunct="1">
        <a:lnSpc>
          <a:spcPct val="90000"/>
        </a:lnSpc>
        <a:spcBef>
          <a:spcPct val="0"/>
        </a:spcBef>
        <a:buNone/>
        <a:defRPr sz="46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0030" indent="-240030" algn="l" defTabSz="960120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2940" kern="1200">
          <a:solidFill>
            <a:schemeClr val="tx1"/>
          </a:solidFill>
          <a:latin typeface="+mn-lt"/>
          <a:ea typeface="+mn-ea"/>
          <a:cs typeface="+mn-cs"/>
        </a:defRPr>
      </a:lvl1pPr>
      <a:lvl2pPr marL="7200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802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216027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64033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203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805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3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4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4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C59D0F3-0831-BB4F-5869-4C89A7608B75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rgbClr val="0D0A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jedi_img" descr="Homem de camisa azul em fundo escuro&#10;&#10;Descrição gerada automaticamente com confiança baixa">
            <a:extLst>
              <a:ext uri="{FF2B5EF4-FFF2-40B4-BE49-F238E27FC236}">
                <a16:creationId xmlns:a16="http://schemas.microsoft.com/office/drawing/2014/main" id="{37B0524B-3D93-0DB0-4816-D121B4197E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35131"/>
            <a:ext cx="9601200" cy="9601200"/>
          </a:xfrm>
          <a:prstGeom prst="rect">
            <a:avLst/>
          </a:prstGeom>
        </p:spPr>
      </p:pic>
      <p:sp>
        <p:nvSpPr>
          <p:cNvPr id="14" name="fundo_subtitulo">
            <a:extLst>
              <a:ext uri="{FF2B5EF4-FFF2-40B4-BE49-F238E27FC236}">
                <a16:creationId xmlns:a16="http://schemas.microsoft.com/office/drawing/2014/main" id="{CECE1AD7-AD65-2877-B848-F4A38CF96147}"/>
              </a:ext>
            </a:extLst>
          </p:cNvPr>
          <p:cNvSpPr/>
          <p:nvPr/>
        </p:nvSpPr>
        <p:spPr>
          <a:xfrm>
            <a:off x="0" y="2446960"/>
            <a:ext cx="9601200" cy="830997"/>
          </a:xfrm>
          <a:prstGeom prst="rect">
            <a:avLst/>
          </a:prstGeom>
          <a:solidFill>
            <a:srgbClr val="36A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logo_css" descr="Ícone&#10;&#10;Descrição gerada automaticamente">
            <a:extLst>
              <a:ext uri="{FF2B5EF4-FFF2-40B4-BE49-F238E27FC236}">
                <a16:creationId xmlns:a16="http://schemas.microsoft.com/office/drawing/2014/main" id="{EA26D580-CAFF-82C8-5A63-D0CFDDFA665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6575"/>
          <a:stretch/>
        </p:blipFill>
        <p:spPr>
          <a:xfrm>
            <a:off x="1838231" y="7203543"/>
            <a:ext cx="5924736" cy="2797577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87405FB1-0AFE-DF6D-4838-8755D3F2C988}"/>
              </a:ext>
            </a:extLst>
          </p:cNvPr>
          <p:cNvSpPr txBox="1"/>
          <p:nvPr/>
        </p:nvSpPr>
        <p:spPr>
          <a:xfrm>
            <a:off x="553133" y="337942"/>
            <a:ext cx="8341485" cy="1938992"/>
          </a:xfrm>
          <a:prstGeom prst="rect">
            <a:avLst/>
          </a:prstGeom>
          <a:noFill/>
          <a:effectLst>
            <a:glow rad="1092200">
              <a:schemeClr val="accent1">
                <a:alpha val="28000"/>
              </a:schemeClr>
            </a:glow>
            <a:outerShdw blurRad="50800" dist="50800" dir="5400000" algn="ctr" rotWithShape="0">
              <a:srgbClr val="000000"/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pt-BR" sz="6000" dirty="0">
                <a:solidFill>
                  <a:schemeClr val="bg1"/>
                </a:solidFill>
                <a:effectLst>
                  <a:glow rad="342900">
                    <a:srgbClr val="37ABFF"/>
                  </a:glow>
                </a:effectLst>
                <a:latin typeface="8BIT WONDER" panose="00000400000000000000" pitchFamily="2" charset="0"/>
              </a:rPr>
              <a:t>UMA JORNADA PELO UNIVERSO HVAC</a:t>
            </a:r>
          </a:p>
        </p:txBody>
      </p:sp>
      <p:sp>
        <p:nvSpPr>
          <p:cNvPr id="13" name="subtitulo">
            <a:extLst>
              <a:ext uri="{FF2B5EF4-FFF2-40B4-BE49-F238E27FC236}">
                <a16:creationId xmlns:a16="http://schemas.microsoft.com/office/drawing/2014/main" id="{429024B7-8E30-E5DB-74CA-5CCE07B84C5A}"/>
              </a:ext>
            </a:extLst>
          </p:cNvPr>
          <p:cNvSpPr txBox="1"/>
          <p:nvPr/>
        </p:nvSpPr>
        <p:spPr>
          <a:xfrm>
            <a:off x="489799" y="2446960"/>
            <a:ext cx="84681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Impact" panose="020B0806030902050204" pitchFamily="34" charset="0"/>
              </a:rPr>
              <a:t>Como a força da climatização mantém o equilíbrio entre conforto, </a:t>
            </a:r>
            <a:br>
              <a:rPr lang="pt-BR" sz="2400" dirty="0">
                <a:solidFill>
                  <a:schemeClr val="bg1"/>
                </a:solidFill>
                <a:latin typeface="Impact" panose="020B0806030902050204" pitchFamily="34" charset="0"/>
              </a:rPr>
            </a:br>
            <a:r>
              <a:rPr lang="pt-BR" sz="2400" dirty="0">
                <a:solidFill>
                  <a:schemeClr val="bg1"/>
                </a:solidFill>
                <a:latin typeface="Impact" panose="020B0806030902050204" pitchFamily="34" charset="0"/>
              </a:rPr>
              <a:t>energia e sustentabilidade</a:t>
            </a:r>
          </a:p>
        </p:txBody>
      </p:sp>
      <p:sp>
        <p:nvSpPr>
          <p:cNvPr id="16" name="fundo_rodape">
            <a:extLst>
              <a:ext uri="{FF2B5EF4-FFF2-40B4-BE49-F238E27FC236}">
                <a16:creationId xmlns:a16="http://schemas.microsoft.com/office/drawing/2014/main" id="{8A5EDDAD-04F3-2FDC-9612-B1EBD47701CD}"/>
              </a:ext>
            </a:extLst>
          </p:cNvPr>
          <p:cNvSpPr/>
          <p:nvPr/>
        </p:nvSpPr>
        <p:spPr>
          <a:xfrm>
            <a:off x="2612571" y="11632661"/>
            <a:ext cx="4378164" cy="830997"/>
          </a:xfrm>
          <a:prstGeom prst="rect">
            <a:avLst/>
          </a:prstGeom>
          <a:solidFill>
            <a:srgbClr val="36AB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odape">
            <a:extLst>
              <a:ext uri="{FF2B5EF4-FFF2-40B4-BE49-F238E27FC236}">
                <a16:creationId xmlns:a16="http://schemas.microsoft.com/office/drawing/2014/main" id="{6275A980-272E-6995-30C1-C7DA34BD34F2}"/>
              </a:ext>
            </a:extLst>
          </p:cNvPr>
          <p:cNvSpPr txBox="1"/>
          <p:nvPr/>
        </p:nvSpPr>
        <p:spPr>
          <a:xfrm>
            <a:off x="3656674" y="11652712"/>
            <a:ext cx="35846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dirty="0">
                <a:solidFill>
                  <a:srgbClr val="0D0A27"/>
                </a:solidFill>
                <a:latin typeface="Impact" panose="020B0806030902050204" pitchFamily="34" charset="0"/>
              </a:rPr>
              <a:t>WALLVS</a:t>
            </a:r>
          </a:p>
        </p:txBody>
      </p:sp>
      <p:sp>
        <p:nvSpPr>
          <p:cNvPr id="15" name="subtitulo_componente">
            <a:extLst>
              <a:ext uri="{FF2B5EF4-FFF2-40B4-BE49-F238E27FC236}">
                <a16:creationId xmlns:a16="http://schemas.microsoft.com/office/drawing/2014/main" id="{4AC64B63-F496-F80D-2DF0-D95D155A98DB}"/>
              </a:ext>
            </a:extLst>
          </p:cNvPr>
          <p:cNvSpPr txBox="1"/>
          <p:nvPr/>
        </p:nvSpPr>
        <p:spPr>
          <a:xfrm>
            <a:off x="250420" y="10217501"/>
            <a:ext cx="91003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>
                <a:solidFill>
                  <a:schemeClr val="bg1"/>
                </a:solidFill>
                <a:latin typeface="+mj-lt"/>
              </a:rPr>
              <a:t>Aprenda quais são os principais tipos de seletores mais utilizadas na hora de construir páginas web</a:t>
            </a:r>
          </a:p>
        </p:txBody>
      </p:sp>
    </p:spTree>
    <p:extLst>
      <p:ext uri="{BB962C8B-B14F-4D97-AF65-F5344CB8AC3E}">
        <p14:creationId xmlns:p14="http://schemas.microsoft.com/office/powerpoint/2010/main" val="2060185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_componente">
            <a:extLst>
              <a:ext uri="{FF2B5EF4-FFF2-40B4-BE49-F238E27FC236}">
                <a16:creationId xmlns:a16="http://schemas.microsoft.com/office/drawing/2014/main" id="{5F8A268F-DF04-2C6F-1AF7-579F8D46FDD0}"/>
              </a:ext>
            </a:extLst>
          </p:cNvPr>
          <p:cNvSpPr txBox="1"/>
          <p:nvPr/>
        </p:nvSpPr>
        <p:spPr>
          <a:xfrm>
            <a:off x="892277" y="4474727"/>
            <a:ext cx="781664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HVAC é a sigla para </a:t>
            </a:r>
            <a:r>
              <a:rPr lang="pt-BR" sz="2400" dirty="0" err="1"/>
              <a:t>Heating</a:t>
            </a:r>
            <a:r>
              <a:rPr lang="pt-BR" sz="2400" dirty="0"/>
              <a:t>, </a:t>
            </a:r>
            <a:r>
              <a:rPr lang="pt-BR" sz="2400" dirty="0" err="1"/>
              <a:t>Ventilation</a:t>
            </a:r>
            <a:r>
              <a:rPr lang="pt-BR" sz="2400" dirty="0"/>
              <a:t> </a:t>
            </a:r>
            <a:r>
              <a:rPr lang="pt-BR" sz="2400" dirty="0" err="1"/>
              <a:t>and</a:t>
            </a:r>
            <a:r>
              <a:rPr lang="pt-BR" sz="2400" dirty="0"/>
              <a:t> Air </a:t>
            </a:r>
            <a:r>
              <a:rPr lang="pt-BR" sz="2400" dirty="0" err="1"/>
              <a:t>Conditioning</a:t>
            </a:r>
            <a:r>
              <a:rPr lang="pt-BR" sz="2400" dirty="0"/>
              <a:t> — ou Aquecimento, Ventilação e Ar Condicionado. Esses sistemas mantêm a temperatura e a qualidade do ar em equilíbrio, garantindo bem-estar térmico e saúde para quem ocupa o ambiente. Pense em uma nave espacial: sem controle de temperatura e oxigênio, nenhuma missão duraria muito tempo.</a:t>
            </a:r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26767187-6DF7-80A9-F3B9-FCD72DDF717D}"/>
              </a:ext>
            </a:extLst>
          </p:cNvPr>
          <p:cNvSpPr txBox="1"/>
          <p:nvPr/>
        </p:nvSpPr>
        <p:spPr>
          <a:xfrm>
            <a:off x="795281" y="576112"/>
            <a:ext cx="781664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Impact" panose="020B0806030902050204" pitchFamily="34" charset="0"/>
              </a:rPr>
              <a:t>O EQUILÍBRIO DA FORÇA: O QUE É HVAC E POR QUE ELE IMPORTA?</a:t>
            </a:r>
          </a:p>
        </p:txBody>
      </p:sp>
      <p:sp>
        <p:nvSpPr>
          <p:cNvPr id="4" name="subtitulo_componente">
            <a:extLst>
              <a:ext uri="{FF2B5EF4-FFF2-40B4-BE49-F238E27FC236}">
                <a16:creationId xmlns:a16="http://schemas.microsoft.com/office/drawing/2014/main" id="{25CCF5E4-57B1-4237-190B-AC69C1A6536B}"/>
              </a:ext>
            </a:extLst>
          </p:cNvPr>
          <p:cNvSpPr txBox="1"/>
          <p:nvPr/>
        </p:nvSpPr>
        <p:spPr>
          <a:xfrm>
            <a:off x="892276" y="2065735"/>
            <a:ext cx="781664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>
                <a:latin typeface="+mj-lt"/>
              </a:rPr>
              <a:t>Assim como a Força conecta todos os seres do universo, o sistema HVAC conecta conforto, saúde e eficiência em cada ambiente.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3548456-7C95-80DE-D379-01E177977A3D}"/>
              </a:ext>
            </a:extLst>
          </p:cNvPr>
          <p:cNvSpPr/>
          <p:nvPr/>
        </p:nvSpPr>
        <p:spPr>
          <a:xfrm>
            <a:off x="651281" y="-216344"/>
            <a:ext cx="144000" cy="1512000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D950483A-1B7C-BC8A-AFE0-E5A3B512F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AVAC PARA JEDIS - WALLVS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8506AD6-F630-7371-1439-5B2FE576D34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3266096" y="9980361"/>
            <a:ext cx="3069008" cy="1718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000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0B0E586-87BE-933D-F40E-E3BBA13856E0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93533FB0-D3C0-9791-4F72-0D1731465A20}"/>
              </a:ext>
            </a:extLst>
          </p:cNvPr>
          <p:cNvSpPr txBox="1"/>
          <p:nvPr/>
        </p:nvSpPr>
        <p:spPr>
          <a:xfrm>
            <a:off x="892277" y="6400800"/>
            <a:ext cx="781664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dirty="0">
                <a:solidFill>
                  <a:schemeClr val="bg1"/>
                </a:solidFill>
                <a:latin typeface="Impact" panose="020B0806030902050204" pitchFamily="34" charset="0"/>
              </a:rPr>
              <a:t>EFICIÊNCIA ENERGÉTICA</a:t>
            </a:r>
          </a:p>
        </p:txBody>
      </p:sp>
      <p:sp>
        <p:nvSpPr>
          <p:cNvPr id="4" name="titulo_componente">
            <a:extLst>
              <a:ext uri="{FF2B5EF4-FFF2-40B4-BE49-F238E27FC236}">
                <a16:creationId xmlns:a16="http://schemas.microsoft.com/office/drawing/2014/main" id="{0E49EEBC-3AEF-FA23-4067-E0866590C14C}"/>
              </a:ext>
            </a:extLst>
          </p:cNvPr>
          <p:cNvSpPr txBox="1"/>
          <p:nvPr/>
        </p:nvSpPr>
        <p:spPr>
          <a:xfrm>
            <a:off x="807610" y="2133601"/>
            <a:ext cx="7816645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700" dirty="0">
                <a:ln>
                  <a:solidFill>
                    <a:srgbClr val="11FFFE"/>
                  </a:solidFill>
                </a:ln>
                <a:noFill/>
                <a:latin typeface="Impact" panose="020B0806030902050204" pitchFamily="34" charset="0"/>
              </a:rPr>
              <a:t>01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A80E993-76DA-56CE-427C-CE1D83BD30C1}"/>
              </a:ext>
            </a:extLst>
          </p:cNvPr>
          <p:cNvSpPr/>
          <p:nvPr/>
        </p:nvSpPr>
        <p:spPr>
          <a:xfrm>
            <a:off x="976944" y="8776129"/>
            <a:ext cx="7731978" cy="106262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exto_componente">
            <a:extLst>
              <a:ext uri="{FF2B5EF4-FFF2-40B4-BE49-F238E27FC236}">
                <a16:creationId xmlns:a16="http://schemas.microsoft.com/office/drawing/2014/main" id="{A8281A8C-F51B-8070-EE7F-AC4CBC315387}"/>
              </a:ext>
            </a:extLst>
          </p:cNvPr>
          <p:cNvSpPr txBox="1"/>
          <p:nvPr/>
        </p:nvSpPr>
        <p:spPr>
          <a:xfrm>
            <a:off x="870768" y="9340866"/>
            <a:ext cx="78166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</a:rPr>
              <a:t>A energia é o combustível do império moderno. Usá-la com sabedoria é o segredo para vencer o lado sombrio do desperdício.</a:t>
            </a:r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351BD98C-D072-63C9-21C3-E1219F48E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AVAC PARA JEDIS - WALLVS</a:t>
            </a:r>
          </a:p>
        </p:txBody>
      </p:sp>
    </p:spTree>
    <p:extLst>
      <p:ext uri="{BB962C8B-B14F-4D97-AF65-F5344CB8AC3E}">
        <p14:creationId xmlns:p14="http://schemas.microsoft.com/office/powerpoint/2010/main" val="6485108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_componente">
            <a:extLst>
              <a:ext uri="{FF2B5EF4-FFF2-40B4-BE49-F238E27FC236}">
                <a16:creationId xmlns:a16="http://schemas.microsoft.com/office/drawing/2014/main" id="{5F8A268F-DF04-2C6F-1AF7-579F8D46FDD0}"/>
              </a:ext>
            </a:extLst>
          </p:cNvPr>
          <p:cNvSpPr txBox="1"/>
          <p:nvPr/>
        </p:nvSpPr>
        <p:spPr>
          <a:xfrm>
            <a:off x="892276" y="4183302"/>
            <a:ext cx="781664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/>
              <a:t>Os sistemas HVAC consomem boa parte da energia em residências e indústrias. Por isso, projetos bem dimensionados fazem toda a diferença. Equipamentos eficientes reduzem custos e emissões de carbono, mantendo o equilíbrio entre conforto e responsabilidade ambiental.</a:t>
            </a:r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26767187-6DF7-80A9-F3B9-FCD72DDF717D}"/>
              </a:ext>
            </a:extLst>
          </p:cNvPr>
          <p:cNvSpPr txBox="1"/>
          <p:nvPr/>
        </p:nvSpPr>
        <p:spPr>
          <a:xfrm>
            <a:off x="795281" y="539656"/>
            <a:ext cx="781664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Impact" panose="020B0806030902050204" pitchFamily="34" charset="0"/>
              </a:rPr>
              <a:t>A REBELIÃO CONTRA O DESPERDÍCIO: EFICIÊNCIA ENERGÉTICA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3548456-7C95-80DE-D379-01E177977A3D}"/>
              </a:ext>
            </a:extLst>
          </p:cNvPr>
          <p:cNvSpPr/>
          <p:nvPr/>
        </p:nvSpPr>
        <p:spPr>
          <a:xfrm>
            <a:off x="651281" y="-216344"/>
            <a:ext cx="144000" cy="1512000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Espaço Reservado para Rodapé 18">
            <a:extLst>
              <a:ext uri="{FF2B5EF4-FFF2-40B4-BE49-F238E27FC236}">
                <a16:creationId xmlns:a16="http://schemas.microsoft.com/office/drawing/2014/main" id="{106B9400-10F5-C4D9-5FB4-31020CF6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AVAC PARA JEDIS - WALLVS</a:t>
            </a:r>
            <a:endParaRPr lang="pt-BR" dirty="0"/>
          </a:p>
        </p:txBody>
      </p:sp>
      <p:pic>
        <p:nvPicPr>
          <p:cNvPr id="4104" name="Picture 8" descr="Would you like to see new lightsaber variants in the future? | Fandom">
            <a:extLst>
              <a:ext uri="{FF2B5EF4-FFF2-40B4-BE49-F238E27FC236}">
                <a16:creationId xmlns:a16="http://schemas.microsoft.com/office/drawing/2014/main" id="{A393F87C-445A-A984-0A42-8A48C42D17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87839">
            <a:off x="3038474" y="971271"/>
            <a:ext cx="3524250" cy="244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logo_css" descr="Ícone&#10;&#10;Descrição gerada automaticamente">
            <a:extLst>
              <a:ext uri="{FF2B5EF4-FFF2-40B4-BE49-F238E27FC236}">
                <a16:creationId xmlns:a16="http://schemas.microsoft.com/office/drawing/2014/main" id="{68D9D51D-79E1-64B4-7B7A-A0A4BFAC6E5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-3689"/>
          <a:stretch/>
        </p:blipFill>
        <p:spPr>
          <a:xfrm>
            <a:off x="3535992" y="9979522"/>
            <a:ext cx="2529215" cy="1484352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0873378C-7317-BAA5-2B67-21CD3AD3F7F3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3266096" y="9980361"/>
            <a:ext cx="3069008" cy="1718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699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F3548456-7C95-80DE-D379-01E177977A3D}"/>
              </a:ext>
            </a:extLst>
          </p:cNvPr>
          <p:cNvSpPr/>
          <p:nvPr/>
        </p:nvSpPr>
        <p:spPr>
          <a:xfrm>
            <a:off x="651281" y="-216344"/>
            <a:ext cx="144000" cy="1512000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2C3508E1-2709-5CFF-2270-FDDC6B1B9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AVAC PARA JEDIS - WALLVS</a:t>
            </a:r>
          </a:p>
        </p:txBody>
      </p:sp>
      <p:pic>
        <p:nvPicPr>
          <p:cNvPr id="13" name="Picture 8" descr="Would you like to see new lightsaber variants in the future? | Fandom">
            <a:extLst>
              <a:ext uri="{FF2B5EF4-FFF2-40B4-BE49-F238E27FC236}">
                <a16:creationId xmlns:a16="http://schemas.microsoft.com/office/drawing/2014/main" id="{4F69F2E5-CDE8-7FB0-C4CB-899ED78E5B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87839">
            <a:off x="3038474" y="971271"/>
            <a:ext cx="3524250" cy="244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logo_css" descr="Ícone&#10;&#10;Descrição gerada automaticamente">
            <a:extLst>
              <a:ext uri="{FF2B5EF4-FFF2-40B4-BE49-F238E27FC236}">
                <a16:creationId xmlns:a16="http://schemas.microsoft.com/office/drawing/2014/main" id="{234D8C20-5D32-6AC9-6FEB-60B98BE564A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-3689"/>
          <a:stretch/>
        </p:blipFill>
        <p:spPr>
          <a:xfrm>
            <a:off x="3535992" y="9979522"/>
            <a:ext cx="2529215" cy="1484352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9BD1313F-2BB0-0EA5-18BC-F8942F180A90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3266096" y="9980361"/>
            <a:ext cx="3069008" cy="1718644"/>
          </a:xfrm>
          <a:prstGeom prst="rect">
            <a:avLst/>
          </a:prstGeom>
        </p:spPr>
      </p:pic>
      <p:sp>
        <p:nvSpPr>
          <p:cNvPr id="8" name="texto_componente">
            <a:extLst>
              <a:ext uri="{FF2B5EF4-FFF2-40B4-BE49-F238E27FC236}">
                <a16:creationId xmlns:a16="http://schemas.microsoft.com/office/drawing/2014/main" id="{D59154BE-0048-40C7-B085-DEF028EC8F77}"/>
              </a:ext>
            </a:extLst>
          </p:cNvPr>
          <p:cNvSpPr txBox="1"/>
          <p:nvPr/>
        </p:nvSpPr>
        <p:spPr>
          <a:xfrm>
            <a:off x="892276" y="4183302"/>
            <a:ext cx="781664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/>
              <a:t>Um exemplo prático: trocar um ar-condicionado antigo por um modelo inverter pode reduzir o consumo em até 40%. É como substituir o motor de um caça TIE por um </a:t>
            </a:r>
            <a:r>
              <a:rPr lang="pt-BR" sz="3200" dirty="0" err="1"/>
              <a:t>hipermotor</a:t>
            </a:r>
            <a:r>
              <a:rPr lang="pt-BR" sz="3200" dirty="0"/>
              <a:t> Jedi — mais potência, menos gasto.</a:t>
            </a:r>
          </a:p>
        </p:txBody>
      </p:sp>
      <p:sp>
        <p:nvSpPr>
          <p:cNvPr id="9" name="titulo_componente">
            <a:extLst>
              <a:ext uri="{FF2B5EF4-FFF2-40B4-BE49-F238E27FC236}">
                <a16:creationId xmlns:a16="http://schemas.microsoft.com/office/drawing/2014/main" id="{D33AB2BB-45CE-3389-CD6E-6F13D1323180}"/>
              </a:ext>
            </a:extLst>
          </p:cNvPr>
          <p:cNvSpPr txBox="1"/>
          <p:nvPr/>
        </p:nvSpPr>
        <p:spPr>
          <a:xfrm>
            <a:off x="795281" y="539656"/>
            <a:ext cx="781664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Impact" panose="020B0806030902050204" pitchFamily="34" charset="0"/>
              </a:rPr>
              <a:t>A REBELIÃO CONTRA O DESPERDÍCIO: EFICIÊNCIA ENERGÉTICA</a:t>
            </a:r>
          </a:p>
        </p:txBody>
      </p:sp>
    </p:spTree>
    <p:extLst>
      <p:ext uri="{BB962C8B-B14F-4D97-AF65-F5344CB8AC3E}">
        <p14:creationId xmlns:p14="http://schemas.microsoft.com/office/powerpoint/2010/main" val="2185512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0B0E586-87BE-933D-F40E-E3BBA13856E0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93533FB0-D3C0-9791-4F72-0D1731465A20}"/>
              </a:ext>
            </a:extLst>
          </p:cNvPr>
          <p:cNvSpPr txBox="1"/>
          <p:nvPr/>
        </p:nvSpPr>
        <p:spPr>
          <a:xfrm>
            <a:off x="892277" y="6832165"/>
            <a:ext cx="781664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400" dirty="0">
                <a:solidFill>
                  <a:schemeClr val="bg1"/>
                </a:solidFill>
                <a:latin typeface="Impact" panose="020B0806030902050204" pitchFamily="34" charset="0"/>
              </a:rPr>
              <a:t>A IMPORTÂNCIA DOS PROJETOS PERSONALIZADOS</a:t>
            </a:r>
          </a:p>
        </p:txBody>
      </p:sp>
      <p:sp>
        <p:nvSpPr>
          <p:cNvPr id="4" name="titulo_componente">
            <a:extLst>
              <a:ext uri="{FF2B5EF4-FFF2-40B4-BE49-F238E27FC236}">
                <a16:creationId xmlns:a16="http://schemas.microsoft.com/office/drawing/2014/main" id="{0E49EEBC-3AEF-FA23-4067-E0866590C14C}"/>
              </a:ext>
            </a:extLst>
          </p:cNvPr>
          <p:cNvSpPr txBox="1"/>
          <p:nvPr/>
        </p:nvSpPr>
        <p:spPr>
          <a:xfrm>
            <a:off x="807610" y="2133601"/>
            <a:ext cx="7816645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700" dirty="0">
                <a:ln>
                  <a:solidFill>
                    <a:srgbClr val="11FFFE"/>
                  </a:solidFill>
                </a:ln>
                <a:noFill/>
                <a:latin typeface="Impact" panose="020B0806030902050204" pitchFamily="34" charset="0"/>
              </a:rPr>
              <a:t>02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A80E993-76DA-56CE-427C-CE1D83BD30C1}"/>
              </a:ext>
            </a:extLst>
          </p:cNvPr>
          <p:cNvSpPr/>
          <p:nvPr/>
        </p:nvSpPr>
        <p:spPr>
          <a:xfrm>
            <a:off x="976944" y="8776129"/>
            <a:ext cx="7731978" cy="106262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exto_componente">
            <a:extLst>
              <a:ext uri="{FF2B5EF4-FFF2-40B4-BE49-F238E27FC236}">
                <a16:creationId xmlns:a16="http://schemas.microsoft.com/office/drawing/2014/main" id="{4F6127F0-6CC7-2E82-46AB-DF602C5CC776}"/>
              </a:ext>
            </a:extLst>
          </p:cNvPr>
          <p:cNvSpPr txBox="1"/>
          <p:nvPr/>
        </p:nvSpPr>
        <p:spPr>
          <a:xfrm>
            <a:off x="870768" y="9340866"/>
            <a:ext cx="78166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</a:rPr>
              <a:t>Cada ambiente é único, assim como cada planeta tem sua atmosfera. Um bom projeto HVAC precisa respeitar essas diferenças.</a:t>
            </a:r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90E6D8A5-1A1A-B921-5118-21A6BD3F4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AVAC PARA JEDIS - WALLVS</a:t>
            </a:r>
          </a:p>
        </p:txBody>
      </p:sp>
    </p:spTree>
    <p:extLst>
      <p:ext uri="{BB962C8B-B14F-4D97-AF65-F5344CB8AC3E}">
        <p14:creationId xmlns:p14="http://schemas.microsoft.com/office/powerpoint/2010/main" val="6670432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F3548456-7C95-80DE-D379-01E177977A3D}"/>
              </a:ext>
            </a:extLst>
          </p:cNvPr>
          <p:cNvSpPr/>
          <p:nvPr/>
        </p:nvSpPr>
        <p:spPr>
          <a:xfrm>
            <a:off x="651281" y="-216344"/>
            <a:ext cx="144000" cy="1512000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D2798D93-ED72-CD33-880D-2C72AA1C4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AVAC PARA JEDIS - WALLVS</a:t>
            </a:r>
          </a:p>
        </p:txBody>
      </p:sp>
      <p:pic>
        <p:nvPicPr>
          <p:cNvPr id="13" name="Picture 8" descr="Would you like to see new lightsaber variants in the future? | Fandom">
            <a:extLst>
              <a:ext uri="{FF2B5EF4-FFF2-40B4-BE49-F238E27FC236}">
                <a16:creationId xmlns:a16="http://schemas.microsoft.com/office/drawing/2014/main" id="{A03BE2BD-1CCA-12BC-A40F-EE2A3201B7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87839">
            <a:off x="3038474" y="971271"/>
            <a:ext cx="3524250" cy="244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logo_css" descr="Ícone&#10;&#10;Descrição gerada automaticamente">
            <a:extLst>
              <a:ext uri="{FF2B5EF4-FFF2-40B4-BE49-F238E27FC236}">
                <a16:creationId xmlns:a16="http://schemas.microsoft.com/office/drawing/2014/main" id="{0D3A0626-5486-8A0B-F407-2B7942FBD42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-3689"/>
          <a:stretch/>
        </p:blipFill>
        <p:spPr>
          <a:xfrm>
            <a:off x="3535992" y="9979522"/>
            <a:ext cx="2529215" cy="1484352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29ACCE19-F8A9-2473-71DE-CCA6478C636D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3266096" y="9980361"/>
            <a:ext cx="3069008" cy="1718644"/>
          </a:xfrm>
          <a:prstGeom prst="rect">
            <a:avLst/>
          </a:prstGeom>
        </p:spPr>
      </p:pic>
      <p:sp>
        <p:nvSpPr>
          <p:cNvPr id="7" name="texto_componente">
            <a:extLst>
              <a:ext uri="{FF2B5EF4-FFF2-40B4-BE49-F238E27FC236}">
                <a16:creationId xmlns:a16="http://schemas.microsoft.com/office/drawing/2014/main" id="{846ABD80-DFF1-37AF-66C9-FE2498563564}"/>
              </a:ext>
            </a:extLst>
          </p:cNvPr>
          <p:cNvSpPr txBox="1"/>
          <p:nvPr/>
        </p:nvSpPr>
        <p:spPr>
          <a:xfrm>
            <a:off x="892276" y="4183302"/>
            <a:ext cx="781664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/>
              <a:t>Um hospital, por exemplo, exige controle preciso de temperatura e umidade. Já um escritório precisa de renovação constante de ar. Copiar projetos entre locais diferentes pode gerar desconforto e ineficiência</a:t>
            </a:r>
          </a:p>
        </p:txBody>
      </p:sp>
      <p:sp>
        <p:nvSpPr>
          <p:cNvPr id="8" name="titulo_componente">
            <a:extLst>
              <a:ext uri="{FF2B5EF4-FFF2-40B4-BE49-F238E27FC236}">
                <a16:creationId xmlns:a16="http://schemas.microsoft.com/office/drawing/2014/main" id="{FBE0E4DD-1208-51D0-5309-C3232EA07DF1}"/>
              </a:ext>
            </a:extLst>
          </p:cNvPr>
          <p:cNvSpPr txBox="1"/>
          <p:nvPr/>
        </p:nvSpPr>
        <p:spPr>
          <a:xfrm>
            <a:off x="795281" y="539656"/>
            <a:ext cx="864797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Impact" panose="020B0806030902050204" pitchFamily="34" charset="0"/>
              </a:rPr>
              <a:t>CLONAGEM DO CONFORTO: A IMPORTÂNCIA DOS PROJETOS PERSONALIZADOS</a:t>
            </a:r>
          </a:p>
        </p:txBody>
      </p:sp>
    </p:spTree>
    <p:extLst>
      <p:ext uri="{BB962C8B-B14F-4D97-AF65-F5344CB8AC3E}">
        <p14:creationId xmlns:p14="http://schemas.microsoft.com/office/powerpoint/2010/main" val="33858878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F3548456-7C95-80DE-D379-01E177977A3D}"/>
              </a:ext>
            </a:extLst>
          </p:cNvPr>
          <p:cNvSpPr/>
          <p:nvPr/>
        </p:nvSpPr>
        <p:spPr>
          <a:xfrm>
            <a:off x="651281" y="-216344"/>
            <a:ext cx="144000" cy="1512000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13705D91-2830-D276-4CDD-D1D05BFB2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AVAC PARA JEDIS - WALLVS</a:t>
            </a:r>
          </a:p>
        </p:txBody>
      </p:sp>
      <p:pic>
        <p:nvPicPr>
          <p:cNvPr id="13" name="Picture 8" descr="Would you like to see new lightsaber variants in the future? | Fandom">
            <a:extLst>
              <a:ext uri="{FF2B5EF4-FFF2-40B4-BE49-F238E27FC236}">
                <a16:creationId xmlns:a16="http://schemas.microsoft.com/office/drawing/2014/main" id="{4958DF4A-2CF7-9A4E-97F2-AE1C614A2B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87839">
            <a:off x="3038474" y="971271"/>
            <a:ext cx="3524250" cy="244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logo_css" descr="Ícone&#10;&#10;Descrição gerada automaticamente">
            <a:extLst>
              <a:ext uri="{FF2B5EF4-FFF2-40B4-BE49-F238E27FC236}">
                <a16:creationId xmlns:a16="http://schemas.microsoft.com/office/drawing/2014/main" id="{9EE0F1E8-A076-473F-33BC-D45EBBA3F9E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-3689"/>
          <a:stretch/>
        </p:blipFill>
        <p:spPr>
          <a:xfrm>
            <a:off x="3535992" y="9979522"/>
            <a:ext cx="2529215" cy="1484352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CDCB5893-9BC8-A91A-A169-C4D1B1814860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3266096" y="9980361"/>
            <a:ext cx="3069008" cy="1718644"/>
          </a:xfrm>
          <a:prstGeom prst="rect">
            <a:avLst/>
          </a:prstGeom>
        </p:spPr>
      </p:pic>
      <p:sp>
        <p:nvSpPr>
          <p:cNvPr id="6" name="texto_componente">
            <a:extLst>
              <a:ext uri="{FF2B5EF4-FFF2-40B4-BE49-F238E27FC236}">
                <a16:creationId xmlns:a16="http://schemas.microsoft.com/office/drawing/2014/main" id="{09856EDB-D629-5A2B-FB13-D4FCED724FF0}"/>
              </a:ext>
            </a:extLst>
          </p:cNvPr>
          <p:cNvSpPr txBox="1"/>
          <p:nvPr/>
        </p:nvSpPr>
        <p:spPr>
          <a:xfrm>
            <a:off x="892276" y="4183302"/>
            <a:ext cx="781664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/>
              <a:t>Um projeto personalizado considera fatores como tamanho do ambiente, número de pessoas, equipamentos e janelas. É como ajustar o traje do Darth Vader — precisa ser feito sob medida para funcionar perfeitamente.</a:t>
            </a:r>
          </a:p>
        </p:txBody>
      </p:sp>
      <p:sp>
        <p:nvSpPr>
          <p:cNvPr id="9" name="titulo_componente">
            <a:extLst>
              <a:ext uri="{FF2B5EF4-FFF2-40B4-BE49-F238E27FC236}">
                <a16:creationId xmlns:a16="http://schemas.microsoft.com/office/drawing/2014/main" id="{F416C9B7-F976-CF7E-8F70-D2BB4A31E30F}"/>
              </a:ext>
            </a:extLst>
          </p:cNvPr>
          <p:cNvSpPr txBox="1"/>
          <p:nvPr/>
        </p:nvSpPr>
        <p:spPr>
          <a:xfrm>
            <a:off x="795281" y="539656"/>
            <a:ext cx="864797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Impact" panose="020B0806030902050204" pitchFamily="34" charset="0"/>
              </a:rPr>
              <a:t>CLONAGEM DO CONFORTO: A IMPORTÂNCIA DOS PROJETOS PERSONALIZADOS</a:t>
            </a:r>
          </a:p>
        </p:txBody>
      </p:sp>
    </p:spTree>
    <p:extLst>
      <p:ext uri="{BB962C8B-B14F-4D97-AF65-F5344CB8AC3E}">
        <p14:creationId xmlns:p14="http://schemas.microsoft.com/office/powerpoint/2010/main" val="3136556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0B0E586-87BE-933D-F40E-E3BBA13856E0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93533FB0-D3C0-9791-4F72-0D1731465A20}"/>
              </a:ext>
            </a:extLst>
          </p:cNvPr>
          <p:cNvSpPr txBox="1"/>
          <p:nvPr/>
        </p:nvSpPr>
        <p:spPr>
          <a:xfrm>
            <a:off x="976944" y="7452690"/>
            <a:ext cx="781664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0" dirty="0">
                <a:solidFill>
                  <a:schemeClr val="bg1"/>
                </a:solidFill>
                <a:latin typeface="Impact" panose="020B0806030902050204" pitchFamily="34" charset="0"/>
              </a:rPr>
              <a:t>VENTILAÇÃO</a:t>
            </a:r>
          </a:p>
        </p:txBody>
      </p:sp>
      <p:sp>
        <p:nvSpPr>
          <p:cNvPr id="4" name="titulo_componente">
            <a:extLst>
              <a:ext uri="{FF2B5EF4-FFF2-40B4-BE49-F238E27FC236}">
                <a16:creationId xmlns:a16="http://schemas.microsoft.com/office/drawing/2014/main" id="{0E49EEBC-3AEF-FA23-4067-E0866590C14C}"/>
              </a:ext>
            </a:extLst>
          </p:cNvPr>
          <p:cNvSpPr txBox="1"/>
          <p:nvPr/>
        </p:nvSpPr>
        <p:spPr>
          <a:xfrm>
            <a:off x="807610" y="2133601"/>
            <a:ext cx="7816645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700" dirty="0">
                <a:ln>
                  <a:solidFill>
                    <a:srgbClr val="11FFFE"/>
                  </a:solidFill>
                </a:ln>
                <a:noFill/>
                <a:latin typeface="Impact" panose="020B0806030902050204" pitchFamily="34" charset="0"/>
              </a:rPr>
              <a:t>03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A80E993-76DA-56CE-427C-CE1D83BD30C1}"/>
              </a:ext>
            </a:extLst>
          </p:cNvPr>
          <p:cNvSpPr/>
          <p:nvPr/>
        </p:nvSpPr>
        <p:spPr>
          <a:xfrm>
            <a:off x="976944" y="8776129"/>
            <a:ext cx="7731978" cy="106262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exto_componente">
            <a:extLst>
              <a:ext uri="{FF2B5EF4-FFF2-40B4-BE49-F238E27FC236}">
                <a16:creationId xmlns:a16="http://schemas.microsoft.com/office/drawing/2014/main" id="{1A38D318-280C-0E99-2186-7D919CA59191}"/>
              </a:ext>
            </a:extLst>
          </p:cNvPr>
          <p:cNvSpPr txBox="1"/>
          <p:nvPr/>
        </p:nvSpPr>
        <p:spPr>
          <a:xfrm>
            <a:off x="870768" y="9340866"/>
            <a:ext cx="78166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</a:rPr>
              <a:t>A ventilação é o elo entre o conforto térmico e a qualidade do ar. É o respiro que mantém a vida em equilíbrio.</a:t>
            </a:r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ED5FF5DA-5CF2-1E22-3C5B-B6117E870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AVAC PARA JEDIS - WALLVS</a:t>
            </a:r>
          </a:p>
        </p:txBody>
      </p:sp>
    </p:spTree>
    <p:extLst>
      <p:ext uri="{BB962C8B-B14F-4D97-AF65-F5344CB8AC3E}">
        <p14:creationId xmlns:p14="http://schemas.microsoft.com/office/powerpoint/2010/main" val="40988515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F3548456-7C95-80DE-D379-01E177977A3D}"/>
              </a:ext>
            </a:extLst>
          </p:cNvPr>
          <p:cNvSpPr/>
          <p:nvPr/>
        </p:nvSpPr>
        <p:spPr>
          <a:xfrm>
            <a:off x="651281" y="-216344"/>
            <a:ext cx="144000" cy="1512000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16565A60-9FB1-1F97-0762-8DE359BBB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AVAC PARA JEDIS - WALLVS</a:t>
            </a:r>
          </a:p>
        </p:txBody>
      </p:sp>
      <p:pic>
        <p:nvPicPr>
          <p:cNvPr id="13" name="Picture 8" descr="Would you like to see new lightsaber variants in the future? | Fandom">
            <a:extLst>
              <a:ext uri="{FF2B5EF4-FFF2-40B4-BE49-F238E27FC236}">
                <a16:creationId xmlns:a16="http://schemas.microsoft.com/office/drawing/2014/main" id="{562CDC66-64EC-BBA5-302D-9A56F56200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87839">
            <a:off x="3038474" y="971271"/>
            <a:ext cx="3524250" cy="244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logo_css" descr="Ícone&#10;&#10;Descrição gerada automaticamente">
            <a:extLst>
              <a:ext uri="{FF2B5EF4-FFF2-40B4-BE49-F238E27FC236}">
                <a16:creationId xmlns:a16="http://schemas.microsoft.com/office/drawing/2014/main" id="{48CEEBD9-BF75-49F8-2AA7-2B759F4CF8E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-3689"/>
          <a:stretch/>
        </p:blipFill>
        <p:spPr>
          <a:xfrm>
            <a:off x="3535992" y="9979522"/>
            <a:ext cx="2529215" cy="1484352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DAD48A12-0022-2661-6EF2-B3B1508142B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3266096" y="9980361"/>
            <a:ext cx="3069008" cy="1718644"/>
          </a:xfrm>
          <a:prstGeom prst="rect">
            <a:avLst/>
          </a:prstGeom>
        </p:spPr>
      </p:pic>
      <p:sp>
        <p:nvSpPr>
          <p:cNvPr id="6" name="texto_componente">
            <a:extLst>
              <a:ext uri="{FF2B5EF4-FFF2-40B4-BE49-F238E27FC236}">
                <a16:creationId xmlns:a16="http://schemas.microsoft.com/office/drawing/2014/main" id="{223EFA79-FFB2-5CBA-1A93-2488AC91C2E9}"/>
              </a:ext>
            </a:extLst>
          </p:cNvPr>
          <p:cNvSpPr txBox="1"/>
          <p:nvPr/>
        </p:nvSpPr>
        <p:spPr>
          <a:xfrm>
            <a:off x="892276" y="4183302"/>
            <a:ext cx="781664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/>
              <a:t>A ventilação remove o ar contaminado e traz ar fresco para dentro do ambiente. Sem ela, até o melhor ar-condicionado se torna inútil. É o que garante que o ar que respiramos seja saudável e livre de impurezas.</a:t>
            </a:r>
          </a:p>
        </p:txBody>
      </p:sp>
      <p:sp>
        <p:nvSpPr>
          <p:cNvPr id="8" name="titulo_componente">
            <a:extLst>
              <a:ext uri="{FF2B5EF4-FFF2-40B4-BE49-F238E27FC236}">
                <a16:creationId xmlns:a16="http://schemas.microsoft.com/office/drawing/2014/main" id="{EA863DC8-7538-608F-B836-78D67EB61AC0}"/>
              </a:ext>
            </a:extLst>
          </p:cNvPr>
          <p:cNvSpPr txBox="1"/>
          <p:nvPr/>
        </p:nvSpPr>
        <p:spPr>
          <a:xfrm>
            <a:off x="795281" y="539656"/>
            <a:ext cx="781664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Impact" panose="020B0806030902050204" pitchFamily="34" charset="0"/>
              </a:rPr>
              <a:t>VENTILAÇÃO: O LADO LUMINOSO DA RESPIRAÇÃO</a:t>
            </a:r>
          </a:p>
        </p:txBody>
      </p:sp>
    </p:spTree>
    <p:extLst>
      <p:ext uri="{BB962C8B-B14F-4D97-AF65-F5344CB8AC3E}">
        <p14:creationId xmlns:p14="http://schemas.microsoft.com/office/powerpoint/2010/main" val="37973474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F3548456-7C95-80DE-D379-01E177977A3D}"/>
              </a:ext>
            </a:extLst>
          </p:cNvPr>
          <p:cNvSpPr/>
          <p:nvPr/>
        </p:nvSpPr>
        <p:spPr>
          <a:xfrm>
            <a:off x="651281" y="-216344"/>
            <a:ext cx="144000" cy="1512000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1C2FB977-C576-929A-11F8-065104F07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AVAC PARA JEDIS - WALLVS</a:t>
            </a:r>
          </a:p>
        </p:txBody>
      </p:sp>
      <p:pic>
        <p:nvPicPr>
          <p:cNvPr id="13" name="Picture 8" descr="Would you like to see new lightsaber variants in the future? | Fandom">
            <a:extLst>
              <a:ext uri="{FF2B5EF4-FFF2-40B4-BE49-F238E27FC236}">
                <a16:creationId xmlns:a16="http://schemas.microsoft.com/office/drawing/2014/main" id="{4E14F219-994E-D2D9-CDB3-F00CFDFF66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87839">
            <a:off x="3038474" y="971271"/>
            <a:ext cx="3524250" cy="244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logo_css" descr="Ícone&#10;&#10;Descrição gerada automaticamente">
            <a:extLst>
              <a:ext uri="{FF2B5EF4-FFF2-40B4-BE49-F238E27FC236}">
                <a16:creationId xmlns:a16="http://schemas.microsoft.com/office/drawing/2014/main" id="{EBCB20CD-08E1-2EC3-7810-0B62B57993E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-3689"/>
          <a:stretch/>
        </p:blipFill>
        <p:spPr>
          <a:xfrm>
            <a:off x="3535992" y="9979522"/>
            <a:ext cx="2529215" cy="1484352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0613C869-4B41-C95D-2682-45F1FF8FA607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3266096" y="9980361"/>
            <a:ext cx="3069008" cy="1718644"/>
          </a:xfrm>
          <a:prstGeom prst="rect">
            <a:avLst/>
          </a:prstGeom>
        </p:spPr>
      </p:pic>
      <p:sp>
        <p:nvSpPr>
          <p:cNvPr id="7" name="texto_componente">
            <a:extLst>
              <a:ext uri="{FF2B5EF4-FFF2-40B4-BE49-F238E27FC236}">
                <a16:creationId xmlns:a16="http://schemas.microsoft.com/office/drawing/2014/main" id="{BB1DCE99-8DCB-27CC-A056-8D7961C7064C}"/>
              </a:ext>
            </a:extLst>
          </p:cNvPr>
          <p:cNvSpPr txBox="1"/>
          <p:nvPr/>
        </p:nvSpPr>
        <p:spPr>
          <a:xfrm>
            <a:off x="892276" y="4183302"/>
            <a:ext cx="781664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/>
              <a:t>Sistemas de exaustão, renovadores de ar e dutos bem projetados são essenciais. Em uma base espacial, seriam como filtros de oxigênio — discretos, mas vitais para a sobrevivência da tripulação.</a:t>
            </a:r>
          </a:p>
        </p:txBody>
      </p:sp>
      <p:sp>
        <p:nvSpPr>
          <p:cNvPr id="9" name="titulo_componente">
            <a:extLst>
              <a:ext uri="{FF2B5EF4-FFF2-40B4-BE49-F238E27FC236}">
                <a16:creationId xmlns:a16="http://schemas.microsoft.com/office/drawing/2014/main" id="{0DB0D719-1003-68FE-B593-4A2B288A4CE8}"/>
              </a:ext>
            </a:extLst>
          </p:cNvPr>
          <p:cNvSpPr txBox="1"/>
          <p:nvPr/>
        </p:nvSpPr>
        <p:spPr>
          <a:xfrm>
            <a:off x="795281" y="539656"/>
            <a:ext cx="781664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Impact" panose="020B0806030902050204" pitchFamily="34" charset="0"/>
              </a:rPr>
              <a:t>VENTILAÇÃO: O LADO LUMINOSO DA RESPIRAÇÃO</a:t>
            </a:r>
          </a:p>
        </p:txBody>
      </p:sp>
    </p:spTree>
    <p:extLst>
      <p:ext uri="{BB962C8B-B14F-4D97-AF65-F5344CB8AC3E}">
        <p14:creationId xmlns:p14="http://schemas.microsoft.com/office/powerpoint/2010/main" val="40490741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0B0E586-87BE-933D-F40E-E3BBA13856E0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93533FB0-D3C0-9791-4F72-0D1731465A20}"/>
              </a:ext>
            </a:extLst>
          </p:cNvPr>
          <p:cNvSpPr txBox="1"/>
          <p:nvPr/>
        </p:nvSpPr>
        <p:spPr>
          <a:xfrm>
            <a:off x="976944" y="7668133"/>
            <a:ext cx="781664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600" dirty="0">
                <a:solidFill>
                  <a:schemeClr val="bg1"/>
                </a:solidFill>
                <a:latin typeface="Impact" panose="020B0806030902050204" pitchFamily="34" charset="0"/>
              </a:rPr>
              <a:t>HVAC E MEIO AMBIENTE</a:t>
            </a:r>
          </a:p>
        </p:txBody>
      </p:sp>
      <p:sp>
        <p:nvSpPr>
          <p:cNvPr id="4" name="titulo_componente">
            <a:extLst>
              <a:ext uri="{FF2B5EF4-FFF2-40B4-BE49-F238E27FC236}">
                <a16:creationId xmlns:a16="http://schemas.microsoft.com/office/drawing/2014/main" id="{0E49EEBC-3AEF-FA23-4067-E0866590C14C}"/>
              </a:ext>
            </a:extLst>
          </p:cNvPr>
          <p:cNvSpPr txBox="1"/>
          <p:nvPr/>
        </p:nvSpPr>
        <p:spPr>
          <a:xfrm>
            <a:off x="807610" y="2133601"/>
            <a:ext cx="7816645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700" dirty="0">
                <a:ln>
                  <a:solidFill>
                    <a:srgbClr val="11FFFE"/>
                  </a:solidFill>
                </a:ln>
                <a:noFill/>
                <a:latin typeface="Impact" panose="020B0806030902050204" pitchFamily="34" charset="0"/>
              </a:rPr>
              <a:t>04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A80E993-76DA-56CE-427C-CE1D83BD30C1}"/>
              </a:ext>
            </a:extLst>
          </p:cNvPr>
          <p:cNvSpPr/>
          <p:nvPr/>
        </p:nvSpPr>
        <p:spPr>
          <a:xfrm>
            <a:off x="976944" y="8776129"/>
            <a:ext cx="7731978" cy="106262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exto_componente">
            <a:extLst>
              <a:ext uri="{FF2B5EF4-FFF2-40B4-BE49-F238E27FC236}">
                <a16:creationId xmlns:a16="http://schemas.microsoft.com/office/drawing/2014/main" id="{1A38D318-280C-0E99-2186-7D919CA59191}"/>
              </a:ext>
            </a:extLst>
          </p:cNvPr>
          <p:cNvSpPr txBox="1"/>
          <p:nvPr/>
        </p:nvSpPr>
        <p:spPr>
          <a:xfrm>
            <a:off x="870768" y="9340866"/>
            <a:ext cx="78166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</a:rPr>
              <a:t>O futuro da climatização está na sustentabilidade. O equilíbrio do ecossistema é o verdadeiro “caminho da Força”.</a:t>
            </a:r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5CF477FF-E9CE-427E-324B-E4F18DF07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AVAC PARA JEDIS - WALLVS</a:t>
            </a:r>
          </a:p>
        </p:txBody>
      </p:sp>
    </p:spTree>
    <p:extLst>
      <p:ext uri="{BB962C8B-B14F-4D97-AF65-F5344CB8AC3E}">
        <p14:creationId xmlns:p14="http://schemas.microsoft.com/office/powerpoint/2010/main" val="23383765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F3548456-7C95-80DE-D379-01E177977A3D}"/>
              </a:ext>
            </a:extLst>
          </p:cNvPr>
          <p:cNvSpPr/>
          <p:nvPr/>
        </p:nvSpPr>
        <p:spPr>
          <a:xfrm>
            <a:off x="651281" y="-216344"/>
            <a:ext cx="144000" cy="1512000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68AAFF6A-760E-55AD-CF3D-CC5D88DC4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AVAC PARA JEDIS - WALLVS</a:t>
            </a:r>
          </a:p>
        </p:txBody>
      </p:sp>
      <p:pic>
        <p:nvPicPr>
          <p:cNvPr id="14" name="Picture 8" descr="Would you like to see new lightsaber variants in the future? | Fandom">
            <a:extLst>
              <a:ext uri="{FF2B5EF4-FFF2-40B4-BE49-F238E27FC236}">
                <a16:creationId xmlns:a16="http://schemas.microsoft.com/office/drawing/2014/main" id="{4FB6B5F6-D9AE-C542-98C4-5DA710DF70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87839">
            <a:off x="3038474" y="971271"/>
            <a:ext cx="3524250" cy="244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logo_css" descr="Ícone&#10;&#10;Descrição gerada automaticamente">
            <a:extLst>
              <a:ext uri="{FF2B5EF4-FFF2-40B4-BE49-F238E27FC236}">
                <a16:creationId xmlns:a16="http://schemas.microsoft.com/office/drawing/2014/main" id="{FF240750-F9D4-4FC8-D708-5DC2067695A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-3689"/>
          <a:stretch/>
        </p:blipFill>
        <p:spPr>
          <a:xfrm>
            <a:off x="3535992" y="9979522"/>
            <a:ext cx="2529215" cy="1484352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23394FA7-6727-CC48-021A-EBF2B1A1F977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3266096" y="9980361"/>
            <a:ext cx="3069008" cy="1718644"/>
          </a:xfrm>
          <a:prstGeom prst="rect">
            <a:avLst/>
          </a:prstGeom>
        </p:spPr>
      </p:pic>
      <p:sp>
        <p:nvSpPr>
          <p:cNvPr id="7" name="texto_componente">
            <a:extLst>
              <a:ext uri="{FF2B5EF4-FFF2-40B4-BE49-F238E27FC236}">
                <a16:creationId xmlns:a16="http://schemas.microsoft.com/office/drawing/2014/main" id="{65D3F8AA-63AB-0A8C-0F81-46B65D4AB545}"/>
              </a:ext>
            </a:extLst>
          </p:cNvPr>
          <p:cNvSpPr txBox="1"/>
          <p:nvPr/>
        </p:nvSpPr>
        <p:spPr>
          <a:xfrm>
            <a:off x="892276" y="4183302"/>
            <a:ext cx="781664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/>
              <a:t>Projetos modernos de HVAC utilizam gases ecológicos, reaproveitam energia e reduzem o impacto ambiental. Além disso, novas tecnologias permitem o controle remoto e o monitoramento inteligente de consumo.</a:t>
            </a:r>
          </a:p>
        </p:txBody>
      </p:sp>
      <p:sp>
        <p:nvSpPr>
          <p:cNvPr id="8" name="titulo_componente">
            <a:extLst>
              <a:ext uri="{FF2B5EF4-FFF2-40B4-BE49-F238E27FC236}">
                <a16:creationId xmlns:a16="http://schemas.microsoft.com/office/drawing/2014/main" id="{2F5FB093-B63E-B4CC-E925-096F7A67DB61}"/>
              </a:ext>
            </a:extLst>
          </p:cNvPr>
          <p:cNvSpPr txBox="1"/>
          <p:nvPr/>
        </p:nvSpPr>
        <p:spPr>
          <a:xfrm>
            <a:off x="795281" y="539656"/>
            <a:ext cx="781664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Impact" panose="020B0806030902050204" pitchFamily="34" charset="0"/>
              </a:rPr>
              <a:t>A GALÁXIA SUSTENTÁVEL: HVAC E MEIO AMBIENTE</a:t>
            </a:r>
          </a:p>
        </p:txBody>
      </p:sp>
    </p:spTree>
    <p:extLst>
      <p:ext uri="{BB962C8B-B14F-4D97-AF65-F5344CB8AC3E}">
        <p14:creationId xmlns:p14="http://schemas.microsoft.com/office/powerpoint/2010/main" val="8170670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F3548456-7C95-80DE-D379-01E177977A3D}"/>
              </a:ext>
            </a:extLst>
          </p:cNvPr>
          <p:cNvSpPr/>
          <p:nvPr/>
        </p:nvSpPr>
        <p:spPr>
          <a:xfrm>
            <a:off x="651281" y="-216344"/>
            <a:ext cx="144000" cy="1512000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EBBD7D6B-A7D1-64E1-F39F-726E19D7A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AVAC PARA JEDIS - WALLVS</a:t>
            </a:r>
          </a:p>
        </p:txBody>
      </p:sp>
      <p:pic>
        <p:nvPicPr>
          <p:cNvPr id="13" name="Picture 8" descr="Would you like to see new lightsaber variants in the future? | Fandom">
            <a:extLst>
              <a:ext uri="{FF2B5EF4-FFF2-40B4-BE49-F238E27FC236}">
                <a16:creationId xmlns:a16="http://schemas.microsoft.com/office/drawing/2014/main" id="{8A9C1BCB-88AB-2FBF-D77C-4AE8D9240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87839">
            <a:off x="3038474" y="971271"/>
            <a:ext cx="3524250" cy="244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logo_css" descr="Ícone&#10;&#10;Descrição gerada automaticamente">
            <a:extLst>
              <a:ext uri="{FF2B5EF4-FFF2-40B4-BE49-F238E27FC236}">
                <a16:creationId xmlns:a16="http://schemas.microsoft.com/office/drawing/2014/main" id="{6EC815F2-8914-BD35-2029-E0A5D3C6F67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-3689"/>
          <a:stretch/>
        </p:blipFill>
        <p:spPr>
          <a:xfrm>
            <a:off x="3535992" y="9979522"/>
            <a:ext cx="2529215" cy="1484352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1D6A0981-856B-8330-A4A0-976A93BB8EBA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3266096" y="9980361"/>
            <a:ext cx="3069008" cy="1718644"/>
          </a:xfrm>
          <a:prstGeom prst="rect">
            <a:avLst/>
          </a:prstGeom>
        </p:spPr>
      </p:pic>
      <p:sp>
        <p:nvSpPr>
          <p:cNvPr id="6" name="texto_componente">
            <a:extLst>
              <a:ext uri="{FF2B5EF4-FFF2-40B4-BE49-F238E27FC236}">
                <a16:creationId xmlns:a16="http://schemas.microsoft.com/office/drawing/2014/main" id="{214B2DEC-E13D-35AC-CD29-1DD6CEF2E9FF}"/>
              </a:ext>
            </a:extLst>
          </p:cNvPr>
          <p:cNvSpPr txBox="1"/>
          <p:nvPr/>
        </p:nvSpPr>
        <p:spPr>
          <a:xfrm>
            <a:off x="892276" y="4183302"/>
            <a:ext cx="781664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/>
              <a:t>É como o uso da energia solar em </a:t>
            </a:r>
            <a:r>
              <a:rPr lang="pt-BR" sz="3200" dirty="0" err="1"/>
              <a:t>Tatooine</a:t>
            </a:r>
            <a:r>
              <a:rPr lang="pt-BR" sz="3200" dirty="0"/>
              <a:t> — aproveitar o que já está disponível no ambiente, com sabedoria e respeito à natureza.</a:t>
            </a:r>
          </a:p>
        </p:txBody>
      </p:sp>
      <p:sp>
        <p:nvSpPr>
          <p:cNvPr id="9" name="titulo_componente">
            <a:extLst>
              <a:ext uri="{FF2B5EF4-FFF2-40B4-BE49-F238E27FC236}">
                <a16:creationId xmlns:a16="http://schemas.microsoft.com/office/drawing/2014/main" id="{ED49E4B0-3B3E-3CFA-F6EB-CC62AE504A48}"/>
              </a:ext>
            </a:extLst>
          </p:cNvPr>
          <p:cNvSpPr txBox="1"/>
          <p:nvPr/>
        </p:nvSpPr>
        <p:spPr>
          <a:xfrm>
            <a:off x="795281" y="539656"/>
            <a:ext cx="781664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Impact" panose="020B0806030902050204" pitchFamily="34" charset="0"/>
              </a:rPr>
              <a:t>A GALÁXIA SUSTENTÁVEL: HVAC E MEIO AMBIENTE</a:t>
            </a:r>
          </a:p>
        </p:txBody>
      </p:sp>
    </p:spTree>
    <p:extLst>
      <p:ext uri="{BB962C8B-B14F-4D97-AF65-F5344CB8AC3E}">
        <p14:creationId xmlns:p14="http://schemas.microsoft.com/office/powerpoint/2010/main" val="18488739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0B0E586-87BE-933D-F40E-E3BBA13856E0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93533FB0-D3C0-9791-4F72-0D1731465A20}"/>
              </a:ext>
            </a:extLst>
          </p:cNvPr>
          <p:cNvSpPr txBox="1"/>
          <p:nvPr/>
        </p:nvSpPr>
        <p:spPr>
          <a:xfrm>
            <a:off x="892277" y="6388320"/>
            <a:ext cx="781664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dirty="0">
                <a:solidFill>
                  <a:schemeClr val="bg1"/>
                </a:solidFill>
                <a:latin typeface="Impact" panose="020B0806030902050204" pitchFamily="34" charset="0"/>
              </a:rPr>
              <a:t>A ALIANÇA DAS ENGENHARIAS</a:t>
            </a:r>
          </a:p>
        </p:txBody>
      </p:sp>
      <p:sp>
        <p:nvSpPr>
          <p:cNvPr id="4" name="titulo_componente">
            <a:extLst>
              <a:ext uri="{FF2B5EF4-FFF2-40B4-BE49-F238E27FC236}">
                <a16:creationId xmlns:a16="http://schemas.microsoft.com/office/drawing/2014/main" id="{0E49EEBC-3AEF-FA23-4067-E0866590C14C}"/>
              </a:ext>
            </a:extLst>
          </p:cNvPr>
          <p:cNvSpPr txBox="1"/>
          <p:nvPr/>
        </p:nvSpPr>
        <p:spPr>
          <a:xfrm>
            <a:off x="807610" y="2133601"/>
            <a:ext cx="7816645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700" dirty="0">
                <a:ln>
                  <a:solidFill>
                    <a:srgbClr val="11FFFE"/>
                  </a:solidFill>
                </a:ln>
                <a:noFill/>
                <a:latin typeface="Impact" panose="020B0806030902050204" pitchFamily="34" charset="0"/>
              </a:rPr>
              <a:t>05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A80E993-76DA-56CE-427C-CE1D83BD30C1}"/>
              </a:ext>
            </a:extLst>
          </p:cNvPr>
          <p:cNvSpPr/>
          <p:nvPr/>
        </p:nvSpPr>
        <p:spPr>
          <a:xfrm>
            <a:off x="976944" y="8776129"/>
            <a:ext cx="7731978" cy="106262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exto_componente">
            <a:extLst>
              <a:ext uri="{FF2B5EF4-FFF2-40B4-BE49-F238E27FC236}">
                <a16:creationId xmlns:a16="http://schemas.microsoft.com/office/drawing/2014/main" id="{1A38D318-280C-0E99-2186-7D919CA59191}"/>
              </a:ext>
            </a:extLst>
          </p:cNvPr>
          <p:cNvSpPr txBox="1"/>
          <p:nvPr/>
        </p:nvSpPr>
        <p:spPr>
          <a:xfrm>
            <a:off x="870768" y="9340866"/>
            <a:ext cx="78166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</a:rPr>
              <a:t>Nenhum engenheiro vence sozinho. HVAC depende da união de forças entre áreas diferentes, assim como a Aliança Rebelde.</a:t>
            </a:r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BDF64E93-9F72-3B13-FC04-1CF9FAD87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AVAC PARA JEDIS - WALLVS</a:t>
            </a:r>
          </a:p>
        </p:txBody>
      </p:sp>
    </p:spTree>
    <p:extLst>
      <p:ext uri="{BB962C8B-B14F-4D97-AF65-F5344CB8AC3E}">
        <p14:creationId xmlns:p14="http://schemas.microsoft.com/office/powerpoint/2010/main" val="40655667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F3548456-7C95-80DE-D379-01E177977A3D}"/>
              </a:ext>
            </a:extLst>
          </p:cNvPr>
          <p:cNvSpPr/>
          <p:nvPr/>
        </p:nvSpPr>
        <p:spPr>
          <a:xfrm>
            <a:off x="651281" y="-216344"/>
            <a:ext cx="144000" cy="1512000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7492E912-C96D-66DF-60F4-0EC19ACDC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AVAC PARA JEDIS - WALLVS</a:t>
            </a:r>
          </a:p>
        </p:txBody>
      </p:sp>
      <p:pic>
        <p:nvPicPr>
          <p:cNvPr id="13" name="Picture 8" descr="Would you like to see new lightsaber variants in the future? | Fandom">
            <a:extLst>
              <a:ext uri="{FF2B5EF4-FFF2-40B4-BE49-F238E27FC236}">
                <a16:creationId xmlns:a16="http://schemas.microsoft.com/office/drawing/2014/main" id="{3611B9B7-2B67-22C0-6363-85B87607E6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87839">
            <a:off x="3038474" y="971271"/>
            <a:ext cx="3524250" cy="244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logo_css" descr="Ícone&#10;&#10;Descrição gerada automaticamente">
            <a:extLst>
              <a:ext uri="{FF2B5EF4-FFF2-40B4-BE49-F238E27FC236}">
                <a16:creationId xmlns:a16="http://schemas.microsoft.com/office/drawing/2014/main" id="{A1F36D00-6AEF-DAD9-1469-397615F692D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-3689"/>
          <a:stretch/>
        </p:blipFill>
        <p:spPr>
          <a:xfrm>
            <a:off x="3535992" y="9979522"/>
            <a:ext cx="2529215" cy="1484352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87042AA7-8C17-67EC-C3AA-0E173730503E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3266096" y="9980361"/>
            <a:ext cx="3069008" cy="1718644"/>
          </a:xfrm>
          <a:prstGeom prst="rect">
            <a:avLst/>
          </a:prstGeom>
        </p:spPr>
      </p:pic>
      <p:sp>
        <p:nvSpPr>
          <p:cNvPr id="6" name="texto_componente">
            <a:extLst>
              <a:ext uri="{FF2B5EF4-FFF2-40B4-BE49-F238E27FC236}">
                <a16:creationId xmlns:a16="http://schemas.microsoft.com/office/drawing/2014/main" id="{807AB9F0-AF89-9F28-43A6-5785B6EA8F08}"/>
              </a:ext>
            </a:extLst>
          </p:cNvPr>
          <p:cNvSpPr txBox="1"/>
          <p:nvPr/>
        </p:nvSpPr>
        <p:spPr>
          <a:xfrm>
            <a:off x="892276" y="4183302"/>
            <a:ext cx="781664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/>
              <a:t>Projetos de climatização envolvem engenheiros mecânicos, eletricistas, arquitetos e técnicos. Cada um contribui com sua especialidade para criar sistemas seguros e eficientes.</a:t>
            </a:r>
          </a:p>
        </p:txBody>
      </p:sp>
      <p:sp>
        <p:nvSpPr>
          <p:cNvPr id="8" name="titulo_componente">
            <a:extLst>
              <a:ext uri="{FF2B5EF4-FFF2-40B4-BE49-F238E27FC236}">
                <a16:creationId xmlns:a16="http://schemas.microsoft.com/office/drawing/2014/main" id="{A53C5B3C-B765-1AAB-D414-CC99DF4F009B}"/>
              </a:ext>
            </a:extLst>
          </p:cNvPr>
          <p:cNvSpPr txBox="1"/>
          <p:nvPr/>
        </p:nvSpPr>
        <p:spPr>
          <a:xfrm>
            <a:off x="795281" y="539656"/>
            <a:ext cx="781664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Impact" panose="020B0806030902050204" pitchFamily="34" charset="0"/>
              </a:rPr>
              <a:t>A ALIANÇA DAS ENGENHARIAS: O TRABALHO EM EQUIPE</a:t>
            </a:r>
          </a:p>
        </p:txBody>
      </p:sp>
    </p:spTree>
    <p:extLst>
      <p:ext uri="{BB962C8B-B14F-4D97-AF65-F5344CB8AC3E}">
        <p14:creationId xmlns:p14="http://schemas.microsoft.com/office/powerpoint/2010/main" val="30064142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F3548456-7C95-80DE-D379-01E177977A3D}"/>
              </a:ext>
            </a:extLst>
          </p:cNvPr>
          <p:cNvSpPr/>
          <p:nvPr/>
        </p:nvSpPr>
        <p:spPr>
          <a:xfrm>
            <a:off x="651281" y="-216344"/>
            <a:ext cx="144000" cy="1512000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96B4055A-90BC-F5B7-BD11-C561B43A4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AVAC PARA JEDIS - WALLVS</a:t>
            </a:r>
          </a:p>
        </p:txBody>
      </p:sp>
      <p:pic>
        <p:nvPicPr>
          <p:cNvPr id="15" name="Picture 8" descr="Would you like to see new lightsaber variants in the future? | Fandom">
            <a:extLst>
              <a:ext uri="{FF2B5EF4-FFF2-40B4-BE49-F238E27FC236}">
                <a16:creationId xmlns:a16="http://schemas.microsoft.com/office/drawing/2014/main" id="{4F3E8E64-18DF-94F8-AB0B-7A5AB5220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87839">
            <a:off x="3038474" y="971271"/>
            <a:ext cx="3524250" cy="244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logo_css" descr="Ícone&#10;&#10;Descrição gerada automaticamente">
            <a:extLst>
              <a:ext uri="{FF2B5EF4-FFF2-40B4-BE49-F238E27FC236}">
                <a16:creationId xmlns:a16="http://schemas.microsoft.com/office/drawing/2014/main" id="{677DCDF5-3F67-F5D7-7A61-9CD8F072AAC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-3689"/>
          <a:stretch/>
        </p:blipFill>
        <p:spPr>
          <a:xfrm>
            <a:off x="3535992" y="9979522"/>
            <a:ext cx="2529215" cy="1484352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F06136E0-9998-6D6F-078F-45D86482D04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3266096" y="9980361"/>
            <a:ext cx="3069008" cy="1718644"/>
          </a:xfrm>
          <a:prstGeom prst="rect">
            <a:avLst/>
          </a:prstGeom>
        </p:spPr>
      </p:pic>
      <p:sp>
        <p:nvSpPr>
          <p:cNvPr id="7" name="texto_componente">
            <a:extLst>
              <a:ext uri="{FF2B5EF4-FFF2-40B4-BE49-F238E27FC236}">
                <a16:creationId xmlns:a16="http://schemas.microsoft.com/office/drawing/2014/main" id="{A9BD477C-4A01-4A7C-8D85-8A81A4873006}"/>
              </a:ext>
            </a:extLst>
          </p:cNvPr>
          <p:cNvSpPr txBox="1"/>
          <p:nvPr/>
        </p:nvSpPr>
        <p:spPr>
          <a:xfrm>
            <a:off x="892276" y="4183302"/>
            <a:ext cx="781664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/>
              <a:t>Sem essa integração, o projeto perde funcionalidade e eficiência. É como se um Jedi tentasse pilotar uma nave sem ajuda de um droide </a:t>
            </a:r>
            <a:r>
              <a:rPr lang="pt-BR" sz="3200" dirty="0" err="1"/>
              <a:t>astromecânico</a:t>
            </a:r>
            <a:r>
              <a:rPr lang="pt-BR" sz="3200" dirty="0"/>
              <a:t> — até consegue, mas com muito mais dificuldade.</a:t>
            </a:r>
          </a:p>
        </p:txBody>
      </p:sp>
      <p:sp>
        <p:nvSpPr>
          <p:cNvPr id="9" name="titulo_componente">
            <a:extLst>
              <a:ext uri="{FF2B5EF4-FFF2-40B4-BE49-F238E27FC236}">
                <a16:creationId xmlns:a16="http://schemas.microsoft.com/office/drawing/2014/main" id="{F2257CDA-9825-363D-EF4D-7E109D720181}"/>
              </a:ext>
            </a:extLst>
          </p:cNvPr>
          <p:cNvSpPr txBox="1"/>
          <p:nvPr/>
        </p:nvSpPr>
        <p:spPr>
          <a:xfrm>
            <a:off x="795281" y="539656"/>
            <a:ext cx="781664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Impact" panose="020B0806030902050204" pitchFamily="34" charset="0"/>
              </a:rPr>
              <a:t>A ALIANÇA DAS ENGENHARIAS: O TRABALHO EM EQUIPE</a:t>
            </a:r>
          </a:p>
        </p:txBody>
      </p:sp>
    </p:spTree>
    <p:extLst>
      <p:ext uri="{BB962C8B-B14F-4D97-AF65-F5344CB8AC3E}">
        <p14:creationId xmlns:p14="http://schemas.microsoft.com/office/powerpoint/2010/main" val="10571216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0B0E586-87BE-933D-F40E-E3BBA13856E0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93533FB0-D3C0-9791-4F72-0D1731465A20}"/>
              </a:ext>
            </a:extLst>
          </p:cNvPr>
          <p:cNvSpPr txBox="1"/>
          <p:nvPr/>
        </p:nvSpPr>
        <p:spPr>
          <a:xfrm>
            <a:off x="892277" y="7391188"/>
            <a:ext cx="78166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dirty="0">
                <a:solidFill>
                  <a:schemeClr val="bg1"/>
                </a:solidFill>
                <a:latin typeface="Impact" panose="020B0806030902050204" pitchFamily="34" charset="0"/>
              </a:rPr>
              <a:t>O FUTURO DO HVAC</a:t>
            </a:r>
          </a:p>
        </p:txBody>
      </p:sp>
      <p:sp>
        <p:nvSpPr>
          <p:cNvPr id="4" name="titulo_componente">
            <a:extLst>
              <a:ext uri="{FF2B5EF4-FFF2-40B4-BE49-F238E27FC236}">
                <a16:creationId xmlns:a16="http://schemas.microsoft.com/office/drawing/2014/main" id="{0E49EEBC-3AEF-FA23-4067-E0866590C14C}"/>
              </a:ext>
            </a:extLst>
          </p:cNvPr>
          <p:cNvSpPr txBox="1"/>
          <p:nvPr/>
        </p:nvSpPr>
        <p:spPr>
          <a:xfrm>
            <a:off x="807610" y="2133601"/>
            <a:ext cx="7816645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700" dirty="0">
                <a:ln>
                  <a:solidFill>
                    <a:srgbClr val="11FFFE"/>
                  </a:solidFill>
                </a:ln>
                <a:noFill/>
                <a:latin typeface="Impact" panose="020B0806030902050204" pitchFamily="34" charset="0"/>
              </a:rPr>
              <a:t>06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A80E993-76DA-56CE-427C-CE1D83BD30C1}"/>
              </a:ext>
            </a:extLst>
          </p:cNvPr>
          <p:cNvSpPr/>
          <p:nvPr/>
        </p:nvSpPr>
        <p:spPr>
          <a:xfrm>
            <a:off x="976944" y="8776129"/>
            <a:ext cx="7731978" cy="106262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exto_componente">
            <a:extLst>
              <a:ext uri="{FF2B5EF4-FFF2-40B4-BE49-F238E27FC236}">
                <a16:creationId xmlns:a16="http://schemas.microsoft.com/office/drawing/2014/main" id="{1A38D318-280C-0E99-2186-7D919CA59191}"/>
              </a:ext>
            </a:extLst>
          </p:cNvPr>
          <p:cNvSpPr txBox="1"/>
          <p:nvPr/>
        </p:nvSpPr>
        <p:spPr>
          <a:xfrm>
            <a:off x="870768" y="9340866"/>
            <a:ext cx="78166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</a:rPr>
              <a:t>A nova geração de sistemas HVAC traz automação, sensores inteligentes e sustentabilidade. O futuro já está soprando.</a:t>
            </a:r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EB9DBB56-D673-BFF1-D219-8798ED46F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AVAC PARA JEDIS - WALLVS</a:t>
            </a:r>
          </a:p>
        </p:txBody>
      </p:sp>
    </p:spTree>
    <p:extLst>
      <p:ext uri="{BB962C8B-B14F-4D97-AF65-F5344CB8AC3E}">
        <p14:creationId xmlns:p14="http://schemas.microsoft.com/office/powerpoint/2010/main" val="39078314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F3548456-7C95-80DE-D379-01E177977A3D}"/>
              </a:ext>
            </a:extLst>
          </p:cNvPr>
          <p:cNvSpPr/>
          <p:nvPr/>
        </p:nvSpPr>
        <p:spPr>
          <a:xfrm>
            <a:off x="651281" y="-216344"/>
            <a:ext cx="144000" cy="1512000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2A3A121B-C21A-B258-DBB8-7B677BDC4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AVAC PARA JEDIS - WALLVS</a:t>
            </a:r>
          </a:p>
        </p:txBody>
      </p:sp>
      <p:pic>
        <p:nvPicPr>
          <p:cNvPr id="13" name="Picture 8" descr="Would you like to see new lightsaber variants in the future? | Fandom">
            <a:extLst>
              <a:ext uri="{FF2B5EF4-FFF2-40B4-BE49-F238E27FC236}">
                <a16:creationId xmlns:a16="http://schemas.microsoft.com/office/drawing/2014/main" id="{6F481612-03DE-6168-DCE6-194169C94A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87839">
            <a:off x="3038474" y="971271"/>
            <a:ext cx="3524250" cy="244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logo_css" descr="Ícone&#10;&#10;Descrição gerada automaticamente">
            <a:extLst>
              <a:ext uri="{FF2B5EF4-FFF2-40B4-BE49-F238E27FC236}">
                <a16:creationId xmlns:a16="http://schemas.microsoft.com/office/drawing/2014/main" id="{B63594D7-68CF-29FC-A0D9-3B7E8A5A1E3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-3689"/>
          <a:stretch/>
        </p:blipFill>
        <p:spPr>
          <a:xfrm>
            <a:off x="3535992" y="9979522"/>
            <a:ext cx="2529215" cy="1484352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DB282A74-4DF0-8DFE-A578-D94F5C92D12B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3266096" y="9980361"/>
            <a:ext cx="3069008" cy="1718644"/>
          </a:xfrm>
          <a:prstGeom prst="rect">
            <a:avLst/>
          </a:prstGeom>
        </p:spPr>
      </p:pic>
      <p:sp>
        <p:nvSpPr>
          <p:cNvPr id="7" name="texto_componente">
            <a:extLst>
              <a:ext uri="{FF2B5EF4-FFF2-40B4-BE49-F238E27FC236}">
                <a16:creationId xmlns:a16="http://schemas.microsoft.com/office/drawing/2014/main" id="{7BBAFD7C-C4EF-92A4-604F-81F14F2A0488}"/>
              </a:ext>
            </a:extLst>
          </p:cNvPr>
          <p:cNvSpPr txBox="1"/>
          <p:nvPr/>
        </p:nvSpPr>
        <p:spPr>
          <a:xfrm>
            <a:off x="892276" y="4183302"/>
            <a:ext cx="781664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/>
              <a:t>Sensores IoT, inteligência artificial e automação predial permitem que o sistema ajuste temperatura e ventilação automaticamente, conforme a presença de pessoas e condições climáticas.</a:t>
            </a:r>
          </a:p>
        </p:txBody>
      </p:sp>
      <p:sp>
        <p:nvSpPr>
          <p:cNvPr id="8" name="titulo_componente">
            <a:extLst>
              <a:ext uri="{FF2B5EF4-FFF2-40B4-BE49-F238E27FC236}">
                <a16:creationId xmlns:a16="http://schemas.microsoft.com/office/drawing/2014/main" id="{877666BB-82B8-9A44-B0AE-B8B0BBCF1445}"/>
              </a:ext>
            </a:extLst>
          </p:cNvPr>
          <p:cNvSpPr txBox="1"/>
          <p:nvPr/>
        </p:nvSpPr>
        <p:spPr>
          <a:xfrm>
            <a:off x="795281" y="539656"/>
            <a:ext cx="781664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Impact" panose="020B0806030902050204" pitchFamily="34" charset="0"/>
              </a:rPr>
              <a:t>O DESPERTAR DA INOVAÇÃO: O FUTURO DO HVAC</a:t>
            </a:r>
          </a:p>
        </p:txBody>
      </p:sp>
    </p:spTree>
    <p:extLst>
      <p:ext uri="{BB962C8B-B14F-4D97-AF65-F5344CB8AC3E}">
        <p14:creationId xmlns:p14="http://schemas.microsoft.com/office/powerpoint/2010/main" val="10273810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F3548456-7C95-80DE-D379-01E177977A3D}"/>
              </a:ext>
            </a:extLst>
          </p:cNvPr>
          <p:cNvSpPr/>
          <p:nvPr/>
        </p:nvSpPr>
        <p:spPr>
          <a:xfrm>
            <a:off x="651281" y="-216344"/>
            <a:ext cx="144000" cy="1512000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27E8568A-3DBF-1290-7BC1-1515B5E7B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AVAC PARA JEDIS - WALLVS</a:t>
            </a:r>
          </a:p>
        </p:txBody>
      </p:sp>
      <p:pic>
        <p:nvPicPr>
          <p:cNvPr id="13" name="Picture 8" descr="Would you like to see new lightsaber variants in the future? | Fandom">
            <a:extLst>
              <a:ext uri="{FF2B5EF4-FFF2-40B4-BE49-F238E27FC236}">
                <a16:creationId xmlns:a16="http://schemas.microsoft.com/office/drawing/2014/main" id="{FD378AC7-DA50-4D16-8628-D479BB31E6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87839">
            <a:off x="3038474" y="971271"/>
            <a:ext cx="3524250" cy="244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logo_css" descr="Ícone&#10;&#10;Descrição gerada automaticamente">
            <a:extLst>
              <a:ext uri="{FF2B5EF4-FFF2-40B4-BE49-F238E27FC236}">
                <a16:creationId xmlns:a16="http://schemas.microsoft.com/office/drawing/2014/main" id="{A3A73B1F-DE03-7085-D83C-1A54B643CAC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-3689"/>
          <a:stretch/>
        </p:blipFill>
        <p:spPr>
          <a:xfrm>
            <a:off x="3535992" y="9979522"/>
            <a:ext cx="2529215" cy="1484352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9A63C037-C6BF-DB63-E167-DCD2C937714A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3266096" y="9980361"/>
            <a:ext cx="3069008" cy="1718644"/>
          </a:xfrm>
          <a:prstGeom prst="rect">
            <a:avLst/>
          </a:prstGeom>
        </p:spPr>
      </p:pic>
      <p:sp>
        <p:nvSpPr>
          <p:cNvPr id="6" name="texto_componente">
            <a:extLst>
              <a:ext uri="{FF2B5EF4-FFF2-40B4-BE49-F238E27FC236}">
                <a16:creationId xmlns:a16="http://schemas.microsoft.com/office/drawing/2014/main" id="{97F5C4B3-1EFA-853C-62D1-6947D454407F}"/>
              </a:ext>
            </a:extLst>
          </p:cNvPr>
          <p:cNvSpPr txBox="1"/>
          <p:nvPr/>
        </p:nvSpPr>
        <p:spPr>
          <a:xfrm>
            <a:off x="892276" y="4183302"/>
            <a:ext cx="781664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/>
              <a:t>Em pouco tempo, veremos edifícios “vivos”, que aprendem e se adaptam sozinhos. É como se o próprio prédio tivesse um mestre Yoda interno, guiando o equilíbrio do conforto e da eficiência.</a:t>
            </a:r>
          </a:p>
        </p:txBody>
      </p:sp>
      <p:sp>
        <p:nvSpPr>
          <p:cNvPr id="9" name="titulo_componente">
            <a:extLst>
              <a:ext uri="{FF2B5EF4-FFF2-40B4-BE49-F238E27FC236}">
                <a16:creationId xmlns:a16="http://schemas.microsoft.com/office/drawing/2014/main" id="{1136CD44-8881-41BC-6E5D-D86CAE50F28E}"/>
              </a:ext>
            </a:extLst>
          </p:cNvPr>
          <p:cNvSpPr txBox="1"/>
          <p:nvPr/>
        </p:nvSpPr>
        <p:spPr>
          <a:xfrm>
            <a:off x="795281" y="539656"/>
            <a:ext cx="781664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Impact" panose="020B0806030902050204" pitchFamily="34" charset="0"/>
              </a:rPr>
              <a:t>O DESPERTAR DA INOVAÇÃO: O FUTURO DO HVAC</a:t>
            </a:r>
          </a:p>
        </p:txBody>
      </p:sp>
    </p:spTree>
    <p:extLst>
      <p:ext uri="{BB962C8B-B14F-4D97-AF65-F5344CB8AC3E}">
        <p14:creationId xmlns:p14="http://schemas.microsoft.com/office/powerpoint/2010/main" val="39348596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0B0E586-87BE-933D-F40E-E3BBA13856E0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93533FB0-D3C0-9791-4F72-0D1731465A20}"/>
              </a:ext>
            </a:extLst>
          </p:cNvPr>
          <p:cNvSpPr txBox="1"/>
          <p:nvPr/>
        </p:nvSpPr>
        <p:spPr>
          <a:xfrm>
            <a:off x="892277" y="6388320"/>
            <a:ext cx="78166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solidFill>
                  <a:schemeClr val="bg1"/>
                </a:solidFill>
                <a:latin typeface="Impact" panose="020B0806030902050204" pitchFamily="34" charset="0"/>
              </a:rPr>
              <a:t>A</a:t>
            </a:r>
            <a:r>
              <a:rPr lang="pt-BR" sz="7200" dirty="0">
                <a:solidFill>
                  <a:schemeClr val="bg1"/>
                </a:solidFill>
                <a:latin typeface="Impact" panose="020B0806030902050204" pitchFamily="34" charset="0"/>
              </a:rPr>
              <a:t>GRADECIMENTOS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A80E993-76DA-56CE-427C-CE1D83BD30C1}"/>
              </a:ext>
            </a:extLst>
          </p:cNvPr>
          <p:cNvSpPr/>
          <p:nvPr/>
        </p:nvSpPr>
        <p:spPr>
          <a:xfrm>
            <a:off x="976944" y="8776129"/>
            <a:ext cx="7731978" cy="106262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15C797C3-6F1E-3AA4-4225-55DBA1A40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AVAC PARA JEDIS - WALLVS</a:t>
            </a:r>
          </a:p>
        </p:txBody>
      </p:sp>
    </p:spTree>
    <p:extLst>
      <p:ext uri="{BB962C8B-B14F-4D97-AF65-F5344CB8AC3E}">
        <p14:creationId xmlns:p14="http://schemas.microsoft.com/office/powerpoint/2010/main" val="23909566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_componente">
            <a:extLst>
              <a:ext uri="{FF2B5EF4-FFF2-40B4-BE49-F238E27FC236}">
                <a16:creationId xmlns:a16="http://schemas.microsoft.com/office/drawing/2014/main" id="{5F8A268F-DF04-2C6F-1AF7-579F8D46FDD0}"/>
              </a:ext>
            </a:extLst>
          </p:cNvPr>
          <p:cNvSpPr txBox="1"/>
          <p:nvPr/>
        </p:nvSpPr>
        <p:spPr>
          <a:xfrm>
            <a:off x="892276" y="3460825"/>
            <a:ext cx="7816645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“Assim como os Jedi mantêm o equilíbrio da Força, os engenheiros e projetistas de HVAC mantêm o equilíbrio entre tecnologia, natureza e bem-estar. A verdadeira revolução começa com o ar que respiramos.”</a:t>
            </a:r>
            <a:r>
              <a:rPr lang="pt-BR" sz="4400" dirty="0"/>
              <a:t>.</a:t>
            </a:r>
          </a:p>
          <a:p>
            <a:pPr algn="ctr"/>
            <a:br>
              <a:rPr lang="pt-BR" sz="2400" dirty="0"/>
            </a:br>
            <a:r>
              <a:rPr lang="pt-BR" sz="2400" dirty="0"/>
              <a:t>Esse conteúdo foi gerado com fins didáticos de construção, não foi realizado uma validação cuidadosa humana no conteúdo e pode conter erros gerados por uma IA.</a:t>
            </a:r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26767187-6DF7-80A9-F3B9-FCD72DDF717D}"/>
              </a:ext>
            </a:extLst>
          </p:cNvPr>
          <p:cNvSpPr txBox="1"/>
          <p:nvPr/>
        </p:nvSpPr>
        <p:spPr>
          <a:xfrm>
            <a:off x="2269438" y="777781"/>
            <a:ext cx="83027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Impact" panose="020B0806030902050204" pitchFamily="34" charset="0"/>
              </a:rPr>
              <a:t>OBRIGADO POR LER ATÉ AQUI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3548456-7C95-80DE-D379-01E177977A3D}"/>
              </a:ext>
            </a:extLst>
          </p:cNvPr>
          <p:cNvSpPr/>
          <p:nvPr/>
        </p:nvSpPr>
        <p:spPr>
          <a:xfrm>
            <a:off x="651281" y="-216344"/>
            <a:ext cx="144000" cy="1512000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4B80E3D0-EEFE-5ED5-3B8A-29C7805C8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AVAC PARA JEDIS - WALLVS</a:t>
            </a:r>
          </a:p>
        </p:txBody>
      </p:sp>
      <p:pic>
        <p:nvPicPr>
          <p:cNvPr id="14" name="Picture 8" descr="Would you like to see new lightsaber variants in the future? | Fandom">
            <a:extLst>
              <a:ext uri="{FF2B5EF4-FFF2-40B4-BE49-F238E27FC236}">
                <a16:creationId xmlns:a16="http://schemas.microsoft.com/office/drawing/2014/main" id="{7695C4A0-10A4-51FD-7FCE-43223D6F68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87839">
            <a:off x="2874115" y="971271"/>
            <a:ext cx="3524250" cy="244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8" descr="Would you like to see new lightsaber variants in the future? | Fandom">
            <a:extLst>
              <a:ext uri="{FF2B5EF4-FFF2-40B4-BE49-F238E27FC236}">
                <a16:creationId xmlns:a16="http://schemas.microsoft.com/office/drawing/2014/main" id="{4CCAA8B8-6479-A21B-B3AF-4D0014CE7F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87839">
            <a:off x="2874115" y="10006110"/>
            <a:ext cx="3524250" cy="244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0A8168FC-1B0E-64A0-F863-34F1450A66F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2721325" y="8038339"/>
            <a:ext cx="4158549" cy="2328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4952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5164</TotalTime>
  <Words>987</Words>
  <Application>Microsoft Office PowerPoint</Application>
  <PresentationFormat>Papel A3 (297 x 420 mm)</PresentationFormat>
  <Paragraphs>74</Paragraphs>
  <Slides>22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28" baseType="lpstr">
      <vt:lpstr>8BIT WONDER</vt:lpstr>
      <vt:lpstr>Arial</vt:lpstr>
      <vt:lpstr>Calibri</vt:lpstr>
      <vt:lpstr>Calibri Light</vt:lpstr>
      <vt:lpstr>Impact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Felipe Silva Aguiar</dc:creator>
  <cp:lastModifiedBy>Wallace Vieira</cp:lastModifiedBy>
  <cp:revision>16</cp:revision>
  <dcterms:created xsi:type="dcterms:W3CDTF">2023-06-15T14:34:16Z</dcterms:created>
  <dcterms:modified xsi:type="dcterms:W3CDTF">2025-11-08T01:47:03Z</dcterms:modified>
</cp:coreProperties>
</file>